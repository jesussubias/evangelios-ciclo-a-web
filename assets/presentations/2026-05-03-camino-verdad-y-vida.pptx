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e61205d983d4ded" /><Relationship Type="http://schemas.openxmlformats.org/officeDocument/2006/relationships/extended-properties" Target="/docProps/app.xml" Id="R0af2884a3ee14cbc" /><Relationship Type="http://schemas.openxmlformats.org/officeDocument/2006/relationships/officeDocument" Target="/ppt/presentation.xml" Id="R42d0a9ad4387442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b6cc1ae311a48eb"/>
  </p:sldMasterIdLst>
  <p:notesMasterIdLst>
    <p:notesMasterId xmlns:r="http://schemas.openxmlformats.org/officeDocument/2006/relationships" r:id="Re49dcb1f662e436d"/>
  </p:notesMasterIdLst>
  <p:sldIdLst>
    <p:sldId xmlns:r="http://schemas.openxmlformats.org/officeDocument/2006/relationships" id="256" r:id="Ra6f468fa22994370"/>
    <p:sldId xmlns:r="http://schemas.openxmlformats.org/officeDocument/2006/relationships" id="257" r:id="Rf13ab390b4ea451e"/>
    <p:sldId xmlns:r="http://schemas.openxmlformats.org/officeDocument/2006/relationships" id="258" r:id="R040972391d06422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1778bb3d9cb45bb" /><Relationship Type="http://schemas.openxmlformats.org/officeDocument/2006/relationships/slideMaster" Target="/ppt/slideMasters/slideMaster1.xml" Id="Rfb6cc1ae311a48eb" /><Relationship Type="http://schemas.openxmlformats.org/officeDocument/2006/relationships/notesMaster" Target="/ppt/notesMasters/notesMaster1.xml" Id="Re49dcb1f662e436d" /><Relationship Type="http://schemas.openxmlformats.org/officeDocument/2006/relationships/presProps" Target="/ppt/presProps.xml" Id="R9c5d26c427424386" /><Relationship Type="http://schemas.openxmlformats.org/officeDocument/2006/relationships/viewProps" Target="/ppt/viewProps.xml" Id="R2f130c6e1a064314" /><Relationship Type="http://schemas.openxmlformats.org/officeDocument/2006/relationships/tableStyles" Target="/ppt/tableStyles.xml" Id="Rb9f0f20af1c64749" /><Relationship Type="http://schemas.openxmlformats.org/officeDocument/2006/relationships/slide" Target="/ppt/slides/slide1.xml" Id="Ra6f468fa22994370" /><Relationship Type="http://schemas.openxmlformats.org/officeDocument/2006/relationships/slide" Target="/ppt/slides/slide2.xml" Id="Rf13ab390b4ea451e" /><Relationship Type="http://schemas.openxmlformats.org/officeDocument/2006/relationships/slide" Target="/ppt/slides/slide3.xml" Id="R040972391d06422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0a29ec7b7b249c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2f096a2288441f2" /><Relationship Type="http://schemas.openxmlformats.org/officeDocument/2006/relationships/notesMaster" Target="/ppt/notesMasters/notesMaster1.xml" Id="R07e619fecf6b4f1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e7b9de057904331" /><Relationship Type="http://schemas.openxmlformats.org/officeDocument/2006/relationships/notesMaster" Target="/ppt/notesMasters/notesMaster1.xml" Id="Rf56f5a11aabb48d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b122281f8f64e3d" /><Relationship Type="http://schemas.openxmlformats.org/officeDocument/2006/relationships/notesMaster" Target="/ppt/notesMasters/notesMaster1.xml" Id="R39e2e7eea875443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Lectura del mapa: turbarse, preguntar, reconocer, confiar y obrar. Jn 14 se sitúa en una despedida: el corazón turbado no es falta de fe, sino el lugar desde el que Jesús invita a confiar. Tomás no conoce la ruta y pregunta de frente. Jesús no responde con coordenadas; se ofrece como Camino, revela al Padre y remite a sus obras. Confiar es una relación que permite dar el siguiente paso, no una renuncia a la prudencia, la libertad o la responsabilidad.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Puede asignarse una resonancia a cada pareja. Génesis muestra una llamada con promesa, pero sin itinerario cerrado; Éxodo subraya que Dios mismo camina delante del pueblo; el Salmo pide aprender caminos y verdad; Hebreos invita a perseverar con la mirada puesta en Jesús. Evitar convertir estos textos en una exaltación de la improvisación: la llamada de Dios no exige temeridad ni desprecia información, consejo, preparación o límites.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Material: audio «Camino, Verdad y Vida», copias de Jn 14,1–12, tarjetas, bolígrafos y tres casos ficticios de baja exposición. Nadie debe comunicar decisiones privadas ni resolver en grupo situaciones de alto riesgo. En el discernimiento, Camino pregunta si el paso puede sostenerse; Verdad, si exige negar hechos o dignidad; Vida, qué fruto produce en la persona y los vínculos. Compartir y pasar son opciones válidas. Ante salud, seguridad, economía, abuso o control, derivar a ayuda competente. Cerrar con un paso pequeño, acompañable y revisable.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df4bef854744c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ac16b013cfd41f2" /><Relationship Type="http://schemas.openxmlformats.org/officeDocument/2006/relationships/slideLayout" Target="/ppt/slideLayouts/slideLayout1.xml" Id="R7b08e4e36cd34f0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b08e4e36cd34f0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4c2f101a014b6d" /><Relationship Type="http://schemas.openxmlformats.org/officeDocument/2006/relationships/image" Target="/ppt/media/image.png" Id="R7c64dd963ff643d4" /><Relationship Type="http://schemas.openxmlformats.org/officeDocument/2006/relationships/notesSlide" Target="/ppt/notesSlides/notesSlide1.xml" Id="R02cd5726c6a44b7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9082e4fef7460f" /><Relationship Type="http://schemas.openxmlformats.org/officeDocument/2006/relationships/notesSlide" Target="/ppt/notesSlides/notesSlide2.xml" Id="Rb3c2685c365046e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93d3de04934cb1" /><Relationship Type="http://schemas.openxmlformats.org/officeDocument/2006/relationships/notesSlide" Target="/ppt/notesSlides/notesSlide3.xml" Id="R423d63c4d5d5402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n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64dd963ff643d4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B76F925A-853B-4B63-B630-E7E0361B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FB1C263C-5E91-44EE-907E-89FD0281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57700"/>
            <a:ext cx="12192000" cy="24003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B76D6CD6-C65C-4094-B79C-E893F194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CAMINO, VERDAD Y VIDA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5912B2F9-7ECB-4D03-9D83-96A67B67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F5E7C3"/>
                </a:solidFill>
              </a:defRPr>
            </a:pPr>
            <a:r>
              <a:rPr sz="1275">
                <a:solidFill>
                  <a:srgbClr val="F5E7C3"/>
                </a:solidFill>
              </a:rPr>
              <a:t>Caminar sin tener todo el mapa</a:t>
            </a:r>
          </a:p>
        </p:txBody>
      </p:sp>
      <p:sp>
        <p:nvSpPr>
          <p:cNvPr id="6" name="Rectángulo: esquinas redondeadas 5">
            <a:extLst xmlns:a="http://schemas.openxmlformats.org/drawingml/2006/main">
              <a:ext uri="{FF2B5EF4-FFF2-40B4-BE49-F238E27FC236}">
                <a16:creationId xmlns:a16="http://schemas.microsoft.com/office/drawing/2014/main" id="{6BA613D3-A121-4C21-8A6A-26CE265C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1381125"/>
            <a:ext cx="4305300" cy="1581150"/>
          </a:xfrm>
          <a:prstGeom xmlns:a="http://schemas.openxmlformats.org/drawingml/2006/main" prst="roundRect">
            <a:avLst>
              <a:gd name="adj" fmla="val 7229"/>
            </a:avLst>
          </a:prstGeom>
          <a:ln xmlns:a="http://schemas.openxmlformats.org/drawingml/2006/main" w="9525">
            <a:solidFill>
              <a:srgbClr val="C7B379"/>
            </a:solidFill>
            <a:prstDash val="solid"/>
          </a:ln>
        </p:spPr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D33900F7-2BFB-4C08-9991-E4DBC79C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552575"/>
            <a:ext cx="3162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 VEO EL MAPA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CAMINO CON JESÚS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F9A3AF1-988D-4987-A2AF-F5D5DBBF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200275"/>
            <a:ext cx="3848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 entrega coordenadas;</a:t>
            </a:r>
          </a:p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 ofrece como Camino, Verdad y Vida.</a:t>
            </a:r>
          </a:p>
        </p:txBody>
      </p:sp>
      <p:sp>
        <p:nvSpPr>
          <p:cNvPr id="9" name="Conector recto 8">
            <a:extLst xmlns:a="http://schemas.openxmlformats.org/drawingml/2006/main">
              <a:ext uri="{FF2B5EF4-FFF2-40B4-BE49-F238E27FC236}">
                <a16:creationId xmlns:a16="http://schemas.microsoft.com/office/drawing/2014/main" id="{766AD396-925D-4C92-B794-935B24E5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76275" y="4600575"/>
            <a:ext cx="1075372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DA64F"/>
            </a:solidFill>
            <a:prstDash val="solid"/>
          </a:ln>
        </p:spPr>
      </p:sp>
      <p:sp>
        <p:nvSpPr>
          <p:cNvPr id="10" name="Elipse 9">
            <a:extLst xmlns:a="http://schemas.openxmlformats.org/drawingml/2006/main">
              <a:ext uri="{FF2B5EF4-FFF2-40B4-BE49-F238E27FC236}">
                <a16:creationId xmlns:a16="http://schemas.microsoft.com/office/drawing/2014/main" id="{125F3B06-0623-45FC-A98E-F08D0AB8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665761AE-B378-4760-9A4B-68132258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1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12613CD1-C39B-4AAF-BBCE-27BE8132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TURBARSE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73132C27-ABFD-4365-B43B-986B5714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El futuro incierto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puede turbar el corazón.</a:t>
            </a:r>
          </a:p>
        </p:txBody>
      </p:sp>
      <p:sp>
        <p:nvSpPr>
          <p:cNvPr id="14" name="Conector recto 13">
            <a:extLst xmlns:a="http://schemas.openxmlformats.org/drawingml/2006/main">
              <a:ext uri="{FF2B5EF4-FFF2-40B4-BE49-F238E27FC236}">
                <a16:creationId xmlns:a16="http://schemas.microsoft.com/office/drawing/2014/main" id="{743C9350-C4A1-4490-AD9D-DD5C3BAC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1D8BD664-2AAB-48D3-BBB2-62EFB4D7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Jesús no ridiculiza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el miedo ni la duda.</a:t>
            </a:r>
          </a:p>
        </p:txBody>
      </p:sp>
      <p:sp>
        <p:nvSpPr>
          <p:cNvPr id="16" name="Elipse 15">
            <a:extLst xmlns:a="http://schemas.openxmlformats.org/drawingml/2006/main">
              <a:ext uri="{FF2B5EF4-FFF2-40B4-BE49-F238E27FC236}">
                <a16:creationId xmlns:a16="http://schemas.microsoft.com/office/drawing/2014/main" id="{B66FFF91-9CA2-4037-A956-A2DE54CB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3DE679FA-D2A8-430A-B3B4-C3932A7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2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C6E15EEF-3684-4338-8BA0-DF2F682E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PREGUNTAR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C5A39A7D-9CD1-42F2-A7DB-5F0014AC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Tomás admite que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no conoce el camino.</a:t>
            </a:r>
          </a:p>
        </p:txBody>
      </p:sp>
      <p:sp>
        <p:nvSpPr>
          <p:cNvPr id="20" name="Conector recto 19">
            <a:extLst xmlns:a="http://schemas.openxmlformats.org/drawingml/2006/main">
              <a:ext uri="{FF2B5EF4-FFF2-40B4-BE49-F238E27FC236}">
                <a16:creationId xmlns:a16="http://schemas.microsoft.com/office/drawing/2014/main" id="{C915E308-4F55-4006-BE35-D83ACB19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CEE927DE-097C-47A0-8B22-8024ECD0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pregunta honesta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abre relación.</a:t>
            </a:r>
          </a:p>
        </p:txBody>
      </p:sp>
      <p:sp>
        <p:nvSpPr>
          <p:cNvPr id="22" name="Elipse 21">
            <a:extLst xmlns:a="http://schemas.openxmlformats.org/drawingml/2006/main">
              <a:ext uri="{FF2B5EF4-FFF2-40B4-BE49-F238E27FC236}">
                <a16:creationId xmlns:a16="http://schemas.microsoft.com/office/drawing/2014/main" id="{26BBFF55-7514-457A-AE5C-C740E04E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B5775468-8B8E-4ABF-B92E-67DADC5F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3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D935F955-A505-483F-A10A-C7C65AD1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RECONOCER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35129EB-3FA7-4669-BF9F-26DE8F4B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Jesús revela al Padre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con palabras y obras.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7679B2FF-34E5-4D19-851E-EC869FF0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42D02D78-9FF2-44F5-B00A-5FE232E3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verdad tiene rostro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y puede habitarse.</a:t>
            </a:r>
          </a:p>
        </p:txBody>
      </p:sp>
      <p:sp>
        <p:nvSpPr>
          <p:cNvPr id="28" name="Elipse 27">
            <a:extLst xmlns:a="http://schemas.openxmlformats.org/drawingml/2006/main">
              <a:ext uri="{FF2B5EF4-FFF2-40B4-BE49-F238E27FC236}">
                <a16:creationId xmlns:a16="http://schemas.microsoft.com/office/drawing/2014/main" id="{BE26EAC8-47A2-4607-BEFE-2460A2FF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8B3C1128-2625-4751-800D-21D264F8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02290257-ADD7-4E95-946B-FC1D86FB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CONFIAR</a:t>
            </a:r>
          </a:p>
        </p:txBody>
      </p:sp>
      <p:sp>
        <p:nvSpPr>
          <p:cNvPr id="31" name="Rectángulo 30">
            <a:extLst xmlns:a="http://schemas.openxmlformats.org/drawingml/2006/main">
              <a:ext uri="{FF2B5EF4-FFF2-40B4-BE49-F238E27FC236}">
                <a16:creationId xmlns:a16="http://schemas.microsoft.com/office/drawing/2014/main" id="{B00D536D-D621-4236-AF48-F610F2F9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«Creed también en mí»: 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la presencia va delante.</a:t>
            </a:r>
          </a:p>
        </p:txBody>
      </p:sp>
      <p:sp>
        <p:nvSpPr>
          <p:cNvPr id="32" name="Conector recto 31">
            <a:extLst xmlns:a="http://schemas.openxmlformats.org/drawingml/2006/main">
              <a:ext uri="{FF2B5EF4-FFF2-40B4-BE49-F238E27FC236}">
                <a16:creationId xmlns:a16="http://schemas.microsoft.com/office/drawing/2014/main" id="{8C8B5876-7F3F-4B03-90C7-DD63DB08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F935BB92-EC79-495F-BBBD-30B0F3EA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Confiar no elimina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prudencia ni libertad.</a:t>
            </a:r>
          </a:p>
        </p:txBody>
      </p:sp>
      <p:sp>
        <p:nvSpPr>
          <p:cNvPr id="34" name="Elipse 33">
            <a:extLst xmlns:a="http://schemas.openxmlformats.org/drawingml/2006/main">
              <a:ext uri="{FF2B5EF4-FFF2-40B4-BE49-F238E27FC236}">
                <a16:creationId xmlns:a16="http://schemas.microsoft.com/office/drawing/2014/main" id="{2FF2A9B7-688D-4C1E-AE74-25F236D3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731CFFEA-8755-4D80-99D5-85B69C56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5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E4B35737-4FF5-4FFB-B35C-BF0791C4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OBRAR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D3C05DC6-EEF3-47D1-8D15-FD1B0863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Quien cree continúa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las obras de Jesús.</a:t>
            </a:r>
          </a:p>
        </p:txBody>
      </p:sp>
      <p:sp>
        <p:nvSpPr>
          <p:cNvPr id="38" name="Conector recto 37">
            <a:extLst xmlns:a="http://schemas.openxmlformats.org/drawingml/2006/main">
              <a:ext uri="{FF2B5EF4-FFF2-40B4-BE49-F238E27FC236}">
                <a16:creationId xmlns:a16="http://schemas.microsoft.com/office/drawing/2014/main" id="{3579FD05-578B-414A-A46E-83F30DAF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C276F3AF-1F6D-406C-A755-D267075D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El siguiente paso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se convierte en vida.</a:t>
            </a:r>
          </a:p>
        </p:txBody>
      </p:sp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BBFA0AF3-1233-4EED-9907-CF97B9DD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95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«No me das un mapa; me regalas tu vida»</a:t>
            </a:r>
          </a:p>
        </p:txBody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F331B9A7-E894-478D-B98F-65FC4F15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15045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72F37E03-C2AE-4457-92CB-8FFA9A73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51F"/>
                </a:solidFill>
              </a:defRPr>
            </a:pPr>
            <a:r>
              <a:rPr sz="2250" b="1">
                <a:solidFill>
                  <a:srgbClr val="07151F"/>
                </a:solidFill>
              </a:rPr>
              <a:t>CUATRO RESONANCIAS BÍBLICAS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A32D06E0-C229-427F-A845-5B0388C5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4D646B"/>
                </a:solidFill>
              </a:defRPr>
            </a:pPr>
            <a:r>
              <a:rPr sz="1200" b="0">
                <a:solidFill>
                  <a:srgbClr val="4D646B"/>
                </a:solidFill>
              </a:rPr>
              <a:t>Dios llama, camina delante, enseña y sostiene la mirada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011AFFC2-C892-49BF-B5B8-38CA089B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Rectángulo: esquinas redondeadas 3">
            <a:extLst xmlns:a="http://schemas.openxmlformats.org/drawingml/2006/main">
              <a:ext uri="{FF2B5EF4-FFF2-40B4-BE49-F238E27FC236}">
                <a16:creationId xmlns:a16="http://schemas.microsoft.com/office/drawing/2014/main" id="{ED4C0F0B-03BD-4136-B8C9-08B2D21A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0D2A38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4E9E5A45-0DB9-40E5-9BE5-787146AD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01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E40C7DFE-33ED-454A-AB51-137E5FDD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Gen 12,1</a:t>
            </a:r>
          </a:p>
        </p:txBody>
      </p:sp>
      <p:sp>
        <p:nvSpPr>
          <p:cNvPr id="7" name="Conector recto 6">
            <a:extLst xmlns:a="http://schemas.openxmlformats.org/drawingml/2006/main">
              <a:ext uri="{FF2B5EF4-FFF2-40B4-BE49-F238E27FC236}">
                <a16:creationId xmlns:a16="http://schemas.microsoft.com/office/drawing/2014/main" id="{713B4E51-C338-4275-8ED9-A48BAEF7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0C421F1-9F2E-477F-BA2B-79164E95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SALIR SIN VER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1537AC9D-01DD-431D-A0B8-2736697D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«Sal de tu tierra hacia la tierra que yo te mostraré.»</a:t>
            </a:r>
          </a:p>
        </p:txBody>
      </p:sp>
      <p:sp>
        <p:nvSpPr>
          <p:cNvPr id="10" name="Conector recto 9">
            <a:extLst xmlns:a="http://schemas.openxmlformats.org/drawingml/2006/main">
              <a:ext uri="{FF2B5EF4-FFF2-40B4-BE49-F238E27FC236}">
                <a16:creationId xmlns:a16="http://schemas.microsoft.com/office/drawing/2014/main" id="{E31F0AC1-698A-4C06-85A6-017D1212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51FA8C67-5C0F-4F4B-BCAC-CA72A523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Abrán recibe llamada y promesa, no un itinerario completo. La fe comienza con un paso confiado.</a:t>
            </a:r>
          </a:p>
        </p:txBody>
      </p:sp>
      <p:sp>
        <p:nvSpPr>
          <p:cNvPr id="12" name="Rectángulo: esquinas redondeadas 11">
            <a:extLst xmlns:a="http://schemas.openxmlformats.org/drawingml/2006/main">
              <a:ext uri="{FF2B5EF4-FFF2-40B4-BE49-F238E27FC236}">
                <a16:creationId xmlns:a16="http://schemas.microsoft.com/office/drawing/2014/main" id="{B54CCF2A-F82C-4629-9AEC-6C0E8321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355A478B-DBB8-47C8-8164-6A9D50E1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71B0A35-DB7C-48DB-9465-948C04C0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Ex 13,21</a:t>
            </a:r>
          </a:p>
        </p:txBody>
      </p:sp>
      <p:sp>
        <p:nvSpPr>
          <p:cNvPr id="15" name="Conector recto 14">
            <a:extLst xmlns:a="http://schemas.openxmlformats.org/drawingml/2006/main">
              <a:ext uri="{FF2B5EF4-FFF2-40B4-BE49-F238E27FC236}">
                <a16:creationId xmlns:a16="http://schemas.microsoft.com/office/drawing/2014/main" id="{66CA8D28-498A-402B-98C3-16AAF530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500BD432-5A8A-4615-A99B-AF730BB2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PRESENCIA QUE GUÍA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2A29B886-2F11-434C-AEB0-140D65C3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«El Señor caminaba delante de ellos para guiarlos.»</a:t>
            </a:r>
          </a:p>
        </p:txBody>
      </p:sp>
      <p:sp>
        <p:nvSpPr>
          <p:cNvPr id="18" name="Conector recto 17">
            <a:extLst xmlns:a="http://schemas.openxmlformats.org/drawingml/2006/main">
              <a:ext uri="{FF2B5EF4-FFF2-40B4-BE49-F238E27FC236}">
                <a16:creationId xmlns:a16="http://schemas.microsoft.com/office/drawing/2014/main" id="{58FF9ECC-73F3-426D-9AB0-734B1EDA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88D83548-307E-4D0D-A2BB-45A12131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Dios no se limita a señalar una dirección: su presencia acompaña de día y de noche.</a:t>
            </a:r>
          </a:p>
        </p:txBody>
      </p:sp>
      <p:sp>
        <p:nvSpPr>
          <p:cNvPr id="20" name="Rectángulo: esquinas redondeadas 19">
            <a:extLst xmlns:a="http://schemas.openxmlformats.org/drawingml/2006/main">
              <a:ext uri="{FF2B5EF4-FFF2-40B4-BE49-F238E27FC236}">
                <a16:creationId xmlns:a16="http://schemas.microsoft.com/office/drawing/2014/main" id="{83F9E9AD-DC76-4724-B8B0-4CD903AF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865B4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D36563D4-1A9D-44B1-8E7D-442814D5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03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727E3E34-3C0F-4D35-A6B6-B7F48852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Sal 25,4–5</a:t>
            </a:r>
          </a:p>
        </p:txBody>
      </p:sp>
      <p:sp>
        <p:nvSpPr>
          <p:cNvPr id="23" name="Conector recto 22">
            <a:extLst xmlns:a="http://schemas.openxmlformats.org/drawingml/2006/main">
              <a:ext uri="{FF2B5EF4-FFF2-40B4-BE49-F238E27FC236}">
                <a16:creationId xmlns:a16="http://schemas.microsoft.com/office/drawing/2014/main" id="{721D9E58-FFC0-47B8-98D6-BC3CC419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300E4868-92F9-40B4-9D0E-435EAB60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CAMINOS QUE SE APRENDEN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C582428-796B-4095-98B6-3C2A6FDD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«Señor, enséñame tus caminos; instrúyeme en tus sendas.»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20EA01E7-7751-4CD8-9B07-E89134ED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77EED197-C142-4BC9-AC15-FD8B4BE9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oración no exige control: pide aprender la verdad de Dios mientras se avanza.</a:t>
            </a:r>
          </a:p>
        </p:txBody>
      </p:sp>
      <p:sp>
        <p:nvSpPr>
          <p:cNvPr id="28" name="Rectángulo: esquinas redondeadas 27">
            <a:extLst xmlns:a="http://schemas.openxmlformats.org/drawingml/2006/main">
              <a:ext uri="{FF2B5EF4-FFF2-40B4-BE49-F238E27FC236}">
                <a16:creationId xmlns:a16="http://schemas.microsoft.com/office/drawing/2014/main" id="{77FC9282-B573-472C-9171-60922622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5A513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2AC27A7E-3684-497B-92CE-AF102E6E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541B0600-63A3-4D50-8DCD-C2A91BC9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Heb 12,2</a:t>
            </a:r>
          </a:p>
        </p:txBody>
      </p:sp>
      <p:sp>
        <p:nvSpPr>
          <p:cNvPr id="31" name="Conector recto 30">
            <a:extLst xmlns:a="http://schemas.openxmlformats.org/drawingml/2006/main">
              <a:ext uri="{FF2B5EF4-FFF2-40B4-BE49-F238E27FC236}">
                <a16:creationId xmlns:a16="http://schemas.microsoft.com/office/drawing/2014/main" id="{CD0F8830-070D-4550-BAC0-0FCBBE3D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2F68BC15-077A-4086-B47D-446BC43F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MIRADA PUESTA EN JESÚS</a:t>
            </a:r>
          </a:p>
        </p:txBody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9B1D6005-D34A-4E37-9CFF-143BEC9B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«Corramos con constancia, fijos los ojos en Jesús.»</a:t>
            </a:r>
          </a:p>
        </p:txBody>
      </p:sp>
      <p:sp>
        <p:nvSpPr>
          <p:cNvPr id="34" name="Conector recto 33">
            <a:extLst xmlns:a="http://schemas.openxmlformats.org/drawingml/2006/main">
              <a:ext uri="{FF2B5EF4-FFF2-40B4-BE49-F238E27FC236}">
                <a16:creationId xmlns:a16="http://schemas.microsoft.com/office/drawing/2014/main" id="{097B30E3-4B9F-42F8-A9F7-556491E3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695C0E6E-C3AE-4CF8-8FEA-6B5576C7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El camino cristiano no depende de un plan perfecto: persevera mirando a Jesús y caminando en comunidad.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B381F95A-49F1-4757-9BCD-58948874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81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D9A441"/>
                </a:solidFill>
              </a:defRPr>
            </a:pPr>
            <a:r>
              <a:rPr sz="1050" b="1">
                <a:solidFill>
                  <a:srgbClr val="D9A441"/>
                </a:solidFill>
              </a:rPr>
              <a:t>SÍNTESIS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1C5AD733-368F-4750-80C9-D90C0662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95925"/>
            <a:ext cx="998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7151F"/>
                </a:solidFill>
              </a:defRPr>
            </a:pPr>
            <a:r>
              <a:rPr sz="1425" b="1">
                <a:solidFill>
                  <a:srgbClr val="07151F"/>
                </a:solidFill>
              </a:rPr>
              <a:t>Llamada acogida  ·  presencia delante  ·  verdad aprendida  ·  paso perseverante</a:t>
            </a:r>
          </a:p>
        </p:txBody>
      </p:sp>
      <p:sp>
        <p:nvSpPr>
          <p:cNvPr id="38" name="Rectángulo 37">
            <a:extLst xmlns:a="http://schemas.openxmlformats.org/drawingml/2006/main">
              <a:ext uri="{FF2B5EF4-FFF2-40B4-BE49-F238E27FC236}">
                <a16:creationId xmlns:a16="http://schemas.microsoft.com/office/drawing/2014/main" id="{10B79631-8116-4707-9F97-E11C327D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76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0565E"/>
                </a:solidFill>
              </a:defRPr>
            </a:pPr>
            <a:r>
              <a:rPr sz="1350" b="0">
                <a:solidFill>
                  <a:srgbClr val="40565E"/>
                </a:solidFill>
              </a:rPr>
              <a:t>Pregunta de fondo: ¿qué decisión necesita hoy menos control y un siguiente paso más verdadero?</a:t>
            </a:r>
          </a:p>
        </p:txBody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4360E03B-D8D8-40B4-A0BC-61403AB2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563775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ectángulo 42">
            <a:extLst xmlns:a="http://schemas.openxmlformats.org/drawingml/2006/main">
              <a:ext uri="{FF2B5EF4-FFF2-40B4-BE49-F238E27FC236}">
                <a16:creationId xmlns:a16="http://schemas.microsoft.com/office/drawing/2014/main" id="{53C88EF1-7990-4A69-ABBC-6CF451A0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PROPUESTA DE REUNIÓN · 70 MINUTOS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92328298-5735-44A1-9D3B-60B29C4F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E7C3"/>
                </a:solidFill>
              </a:defRPr>
            </a:pPr>
            <a:r>
              <a:rPr sz="1200" b="0">
                <a:solidFill>
                  <a:srgbClr val="F5E7C3"/>
                </a:solidFill>
              </a:rPr>
              <a:t>Del corazón turbado al siguiente paso posible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10BC4743-C41F-4DB3-AE82-190DDB79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Conector recto 3">
            <a:extLst xmlns:a="http://schemas.openxmlformats.org/drawingml/2006/main">
              <a:ext uri="{FF2B5EF4-FFF2-40B4-BE49-F238E27FC236}">
                <a16:creationId xmlns:a16="http://schemas.microsoft.com/office/drawing/2014/main" id="{6375B53B-3AA1-4460-8323-A486114C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19250"/>
            <a:ext cx="9525" cy="400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7984"/>
            </a:solidFill>
            <a:prstDash val="solid"/>
          </a:ln>
        </p:spPr>
      </p:sp>
      <p:sp>
        <p:nvSpPr>
          <p:cNvPr id="5" name="Elipse 4">
            <a:extLst xmlns:a="http://schemas.openxmlformats.org/drawingml/2006/main">
              <a:ext uri="{FF2B5EF4-FFF2-40B4-BE49-F238E27FC236}">
                <a16:creationId xmlns:a16="http://schemas.microsoft.com/office/drawing/2014/main" id="{E8FF985D-7012-4049-8855-F4E7978E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478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BCCD8C92-E8A4-4942-8D70-4FEB7321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668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7D28D4B5-83E9-4A6C-BA6E-7AF1E133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00′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B2EA4705-1FF4-4311-96DC-0AAD55D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352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477E6774-15D6-4800-8AA4-01B6AE42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478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Oír «Camino, Verdad y Vida» completa, sin explicarla todavía.</a:t>
            </a:r>
          </a:p>
        </p:txBody>
      </p:sp>
      <p:sp>
        <p:nvSpPr>
          <p:cNvPr id="10" name="Rectángulo: esquinas redondeadas 9">
            <a:extLst xmlns:a="http://schemas.openxmlformats.org/drawingml/2006/main">
              <a:ext uri="{FF2B5EF4-FFF2-40B4-BE49-F238E27FC236}">
                <a16:creationId xmlns:a16="http://schemas.microsoft.com/office/drawing/2014/main" id="{2093CDD0-60C3-4498-B8E9-DFB2374B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3525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3A81FBB7-1C20-4A8B-B498-33B54ED2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4478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frase nombra mejor mi necesidad de certeza o de compañía?</a:t>
            </a:r>
          </a:p>
        </p:txBody>
      </p:sp>
      <p:sp>
        <p:nvSpPr>
          <p:cNvPr id="12" name="Elipse 11">
            <a:extLst xmlns:a="http://schemas.openxmlformats.org/drawingml/2006/main">
              <a:ext uri="{FF2B5EF4-FFF2-40B4-BE49-F238E27FC236}">
                <a16:creationId xmlns:a16="http://schemas.microsoft.com/office/drawing/2014/main" id="{82CE6E74-11DE-4371-9707-7D819C30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622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6E14E9C9-CBA7-46E4-9814-7F335CF5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812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292DDD7-9BF5-4785-AA91-207E5346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08′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A514BB4A-2401-4F6B-BDB3-187145CB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669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ORIENTARSE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98ED842D-F6DE-40B3-A888-6D81AA91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622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Tarjeta opcional: «lo que necesito controlar» / «lo que sí puedo cuidar hoy».</a:t>
            </a:r>
          </a:p>
        </p:txBody>
      </p:sp>
      <p:sp>
        <p:nvSpPr>
          <p:cNvPr id="17" name="Rectángulo: esquinas redondeadas 16">
            <a:extLst xmlns:a="http://schemas.openxmlformats.org/drawingml/2006/main">
              <a:ext uri="{FF2B5EF4-FFF2-40B4-BE49-F238E27FC236}">
                <a16:creationId xmlns:a16="http://schemas.microsoft.com/office/drawing/2014/main" id="{844D3CC3-83C2-4555-AA49-17F6F035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2669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70419300-4ED5-4180-85A1-517F52D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622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incertidumbre me turba y qué parte no necesito resolver todavía?</a:t>
            </a:r>
          </a:p>
        </p:txBody>
      </p:sp>
      <p:sp>
        <p:nvSpPr>
          <p:cNvPr id="19" name="Elipse 18">
            <a:extLst xmlns:a="http://schemas.openxmlformats.org/drawingml/2006/main">
              <a:ext uri="{FF2B5EF4-FFF2-40B4-BE49-F238E27FC236}">
                <a16:creationId xmlns:a16="http://schemas.microsoft.com/office/drawing/2014/main" id="{21440157-A5B3-4220-B61D-9DB2AB3D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98DCD944-D80F-4335-93F8-2FBC2D62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956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3195E1D4-5B20-49BE-92FF-51BA140D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20′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15AF171C-7201-47F1-AED5-9E8D2810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81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ILUMINAR</a:t>
            </a:r>
          </a:p>
        </p:txBody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5685EC69-1FED-4758-B7B9-83DB3A0B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Leer Jn 14,1–12 y marcar: turbarse, creer, preparar, preguntar, conocer, ver y hacer.</a:t>
            </a:r>
          </a:p>
        </p:txBody>
      </p:sp>
      <p:sp>
        <p:nvSpPr>
          <p:cNvPr id="24" name="Rectángulo: esquinas redondeadas 23">
            <a:extLst xmlns:a="http://schemas.openxmlformats.org/drawingml/2006/main">
              <a:ext uri="{FF2B5EF4-FFF2-40B4-BE49-F238E27FC236}">
                <a16:creationId xmlns:a16="http://schemas.microsoft.com/office/drawing/2014/main" id="{906FFFBE-D862-49A8-9A23-FFDE300E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1813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7CFFC0D1-2720-4CFD-8F95-8EB2A021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¿Cómo responde Jesús a la petición de ruta y de certeza?</a:t>
            </a:r>
          </a:p>
        </p:txBody>
      </p:sp>
      <p:sp>
        <p:nvSpPr>
          <p:cNvPr id="26" name="Elipse 25">
            <a:extLst xmlns:a="http://schemas.openxmlformats.org/drawingml/2006/main">
              <a:ext uri="{FF2B5EF4-FFF2-40B4-BE49-F238E27FC236}">
                <a16:creationId xmlns:a16="http://schemas.microsoft.com/office/drawing/2014/main" id="{6E6643F4-6238-46E9-8AB2-F53E1FDC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910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87CC754A-24A1-4F48-96FC-75E0CBD3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ángulo 27">
            <a:extLst xmlns:a="http://schemas.openxmlformats.org/drawingml/2006/main">
              <a:ext uri="{FF2B5EF4-FFF2-40B4-BE49-F238E27FC236}">
                <a16:creationId xmlns:a16="http://schemas.microsoft.com/office/drawing/2014/main" id="{F2300832-27E6-4A62-B815-CC398E77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38′</a:t>
            </a:r>
          </a:p>
        </p:txBody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7834DC01-F13F-45A7-B827-2EFCF258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957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DISCERNIR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E215B0C6-630D-414B-854B-6049BC88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910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En tríos, aplicar Camino, Verdad y Vida a tres encrucijadas ficticias.</a:t>
            </a:r>
          </a:p>
        </p:txBody>
      </p:sp>
      <p:sp>
        <p:nvSpPr>
          <p:cNvPr id="31" name="Rectángulo: esquinas redondeadas 30">
            <a:extLst xmlns:a="http://schemas.openxmlformats.org/drawingml/2006/main">
              <a:ext uri="{FF2B5EF4-FFF2-40B4-BE49-F238E27FC236}">
                <a16:creationId xmlns:a16="http://schemas.microsoft.com/office/drawing/2014/main" id="{4DE7B454-0DF5-46AF-8F41-F50C7147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957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3F3B248E-9AFD-4821-9A04-E4B2993B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910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opción puede caminarse con honestidad, dignidad y fruto de vida?</a:t>
            </a:r>
          </a:p>
        </p:txBody>
      </p:sp>
      <p:sp>
        <p:nvSpPr>
          <p:cNvPr id="33" name="Elipse 32">
            <a:extLst xmlns:a="http://schemas.openxmlformats.org/drawingml/2006/main">
              <a:ext uri="{FF2B5EF4-FFF2-40B4-BE49-F238E27FC236}">
                <a16:creationId xmlns:a16="http://schemas.microsoft.com/office/drawing/2014/main" id="{E1ED5C02-4073-4A3B-AF10-4A0648C3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4" name="Rectángulo 33">
            <a:extLst xmlns:a="http://schemas.openxmlformats.org/drawingml/2006/main">
              <a:ext uri="{FF2B5EF4-FFF2-40B4-BE49-F238E27FC236}">
                <a16:creationId xmlns:a16="http://schemas.microsoft.com/office/drawing/2014/main" id="{F49ADBB0-2D51-41F5-9F5F-40B5F266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244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336EC6DF-7239-4253-9ACE-80243B29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244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58′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89AB0ED0-9F6F-4E16-8BD6-1E0D0433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10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CAMINAR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CEED62F7-9C9A-4EFF-AE0F-74788206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054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Elegir un siguiente paso y quién puede acompañarlo. Compartir libremente y orar.</a:t>
            </a:r>
          </a:p>
        </p:txBody>
      </p:sp>
      <p:sp>
        <p:nvSpPr>
          <p:cNvPr id="38" name="Rectángulo: esquinas redondeadas 37">
            <a:extLst xmlns:a="http://schemas.openxmlformats.org/drawingml/2006/main">
              <a:ext uri="{FF2B5EF4-FFF2-40B4-BE49-F238E27FC236}">
                <a16:creationId xmlns:a16="http://schemas.microsoft.com/office/drawing/2014/main" id="{192F604F-0693-4338-B4C8-60A0986B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0101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E1A9E620-0DA6-4D84-A6FA-A22825ED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1054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¿Cuál es el siguiente paso posible sin fingir que veo el final?</a:t>
            </a:r>
          </a:p>
        </p:txBody>
      </p:sp>
      <p:sp>
        <p:nvSpPr>
          <p:cNvPr id="40" name="Rectángulo: esquinas redondeadas 39">
            <a:extLst xmlns:a="http://schemas.openxmlformats.org/drawingml/2006/main">
              <a:ext uri="{FF2B5EF4-FFF2-40B4-BE49-F238E27FC236}">
                <a16:creationId xmlns:a16="http://schemas.microsoft.com/office/drawing/2014/main" id="{4ED58C9D-8432-446A-B976-960336A9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6048375"/>
            <a:ext cx="9725025" cy="447675"/>
          </a:xfrm>
          <a:prstGeom xmlns:a="http://schemas.openxmlformats.org/drawingml/2006/main" prst="roundRect">
            <a:avLst>
              <a:gd name="adj" fmla="val 25532"/>
            </a:avLst>
          </a:prstGeom>
          <a:ln xmlns:a="http://schemas.openxmlformats.org/drawingml/2006/main" w="9525">
            <a:solidFill>
              <a:srgbClr val="D9A441"/>
            </a:solidFill>
            <a:prstDash val="solid"/>
          </a:ln>
        </p:spPr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1E9C6448-F067-47A4-9BF5-FD916857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124575"/>
            <a:ext cx="9344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CRITERIO: no forzar decisiones ni confidencias. Confiar no anula prudencia, libertad o consentimiento. Ante salud, seguridad, economía o control, pedir ayuda competente. Compartir y pasar son opciones válidas.</a:t>
            </a:r>
          </a:p>
        </p:txBody>
      </p:sp>
      <p:sp>
        <p:nvSpPr>
          <p:cNvPr id="42" name="Rectángulo 41">
            <a:extLst xmlns:a="http://schemas.openxmlformats.org/drawingml/2006/main">
              <a:ext uri="{FF2B5EF4-FFF2-40B4-BE49-F238E27FC236}">
                <a16:creationId xmlns:a16="http://schemas.microsoft.com/office/drawing/2014/main" id="{B8673AC7-8C86-4415-B176-1DC3C973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084964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2026-07-14T21:43:55.3990000Z</dcterms:created>
  <dcterms:modified xsi:type="dcterms:W3CDTF">2026-07-14T21:43:55.3990000Z</dcterms:modified>
</coreProperties>
</file>