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1dabc555f34ba5" /><Relationship Type="http://schemas.openxmlformats.org/officeDocument/2006/relationships/extended-properties" Target="/docProps/app.xml" Id="R1753b10b39354ecf" /><Relationship Type="http://schemas.openxmlformats.org/officeDocument/2006/relationships/officeDocument" Target="/ppt/presentation.xml" Id="Rb949f788951f4a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cb077949ae42d2"/>
  </p:sldMasterIdLst>
  <p:notesMasterIdLst>
    <p:notesMasterId xmlns:r="http://schemas.openxmlformats.org/officeDocument/2006/relationships" r:id="R46b97514aa8447a2"/>
  </p:notesMasterIdLst>
  <p:sldIdLst>
    <p:sldId xmlns:r="http://schemas.openxmlformats.org/officeDocument/2006/relationships" id="256" r:id="Rd4bbe29d27994523"/>
    <p:sldId xmlns:r="http://schemas.openxmlformats.org/officeDocument/2006/relationships" id="257" r:id="R34b99659a00a4c03"/>
    <p:sldId xmlns:r="http://schemas.openxmlformats.org/officeDocument/2006/relationships" id="258" r:id="R1b031e61b81540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10e63f55174120" /><Relationship Type="http://schemas.openxmlformats.org/officeDocument/2006/relationships/slideMaster" Target="/ppt/slideMasters/slideMaster1.xml" Id="Rf3cb077949ae42d2" /><Relationship Type="http://schemas.openxmlformats.org/officeDocument/2006/relationships/notesMaster" Target="/ppt/notesMasters/notesMaster1.xml" Id="R46b97514aa8447a2" /><Relationship Type="http://schemas.openxmlformats.org/officeDocument/2006/relationships/presProps" Target="/ppt/presProps.xml" Id="Rfda256f1f267475d" /><Relationship Type="http://schemas.openxmlformats.org/officeDocument/2006/relationships/viewProps" Target="/ppt/viewProps.xml" Id="R8e59d05d46354c1f" /><Relationship Type="http://schemas.openxmlformats.org/officeDocument/2006/relationships/tableStyles" Target="/ppt/tableStyles.xml" Id="R14a9f377aae64ce8" /><Relationship Type="http://schemas.openxmlformats.org/officeDocument/2006/relationships/slide" Target="/ppt/slides/slide1.xml" Id="Rd4bbe29d27994523" /><Relationship Type="http://schemas.openxmlformats.org/officeDocument/2006/relationships/slide" Target="/ppt/slides/slide2.xml" Id="R34b99659a00a4c03" /><Relationship Type="http://schemas.openxmlformats.org/officeDocument/2006/relationships/slide" Target="/ppt/slides/slide3.xml" Id="R1b031e61b81540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8dc7b63e2141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969149ab46424b" /><Relationship Type="http://schemas.openxmlformats.org/officeDocument/2006/relationships/notesMaster" Target="/ppt/notesMasters/notesMaster1.xml" Id="R3302e5aa00f14a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cb3329e30d4bfe" /><Relationship Type="http://schemas.openxmlformats.org/officeDocument/2006/relationships/notesMaster" Target="/ppt/notesMasters/notesMaster1.xml" Id="Re4b31897ab8742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fec64657fa4ec5" /><Relationship Type="http://schemas.openxmlformats.org/officeDocument/2006/relationships/notesMaster" Target="/ppt/notesMasters/notesMaster1.xml" Id="R2e931de3ee5242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 de octubre de 2026. XXVIII Domingo del Tiempo Ordinario, ciclo A. Mt 22,1–14.</a:t>
            </a:r>
          </a:p>
          <a:p xmlns:a="http://schemas.openxmlformats.org/drawingml/2006/main">
            <a:r>
              <a:t>Canción: La fiesta es de todos. Letra y audio proporcionados por el autor.</a:t>
            </a:r>
          </a:p>
          <a:p xmlns:a="http://schemas.openxmlformats.org/drawingml/2006/main">
            <a:r>
              <a:t>El banquete empieza como un regalo y termina llenándose con personas encontradas en los caminos. La canción nos acerca a la experiencia de llegar con prisas, ser escuchados y descubrir que también podemos acoger. El final del Evangelio impide reducir la invitación a una presencia sin consecuencias: pide una respuesta de vida. Leer el traje de fiesta a la luz de la compasión y el amor de Col 3,12–14 es una propuesta pastoral, no una identificación literal que Mateo explique. La pregunta es cómo dejamos que la acogida recibida transforme nuestra manera de tratar a otros.</a:t>
            </a:r>
          </a:p>
          <a:p xmlns:a="http://schemas.openxmlformats.org/drawingml/2006/main">
            <a:r>
              <a:t>Acoger sin forzar a hablar, sonreír o participar. Respetar la intimidad, la libertad y los límites personales. No utilizar el traje de fiesta para juzgar la ropa, la pobreza o el estado de ánimo de nadie. La parábola interpela nuestra respuesta; sus imágenes de castigo no autorizan violencia ni condenas colectivas. Cada persona puede compartir solo lo que desee, guardar silencio o no responder.</a:t>
            </a:r>
          </a:p>
          <a:p xmlns:a="http://schemas.openxmlformats.org/drawingml/2006/main">
            <a:r>
              <a:t>Texto bíblico: https://www.conferenciaepiscopal.es/evangelio/domingo-xxviii-del-tiempo-ordinario/</a:t>
            </a:r>
          </a:p>
          <a:p xmlns:a="http://schemas.openxmlformats.org/drawingml/2006/main">
            <a:r>
              <a:t>La imagen es una recreación generada con IA, no un registro histórico.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textos de las tarjetas son paráfrasis pastorales, no citas literales.</a:t>
            </a:r>
          </a:p>
          <a:p xmlns:a="http://schemas.openxmlformats.org/drawingml/2006/main">
            <a:r>
              <a:t>Is 25,6–9. Dios prepara un banquete para los pueblos y enjuga las lágrimas (paráfrasis). La esperanza alcanza también a quien llega herido. No hay que fingir alegría para encontrar un lugar.</a:t>
            </a:r>
          </a:p>
          <a:p xmlns:a="http://schemas.openxmlformats.org/drawingml/2006/main">
            <a:r>
              <a:t>Lc 14,12–14. Jesús invita a compartir la mesa con quienes no pueden devolver la invitación (paráfrasis). La hospitalidad va más allá de nuestro círculo y no se organiza para cobrar una recompensa.</a:t>
            </a:r>
          </a:p>
          <a:p xmlns:a="http://schemas.openxmlformats.org/drawingml/2006/main">
            <a:r>
              <a:t>Rom 15,7. Acogernos unos a otros tiene como referencia la acogida de Cristo (paráfrasis). Lo que hemos recibido puede convertirse en una forma concreta de escuchar y acompañar.</a:t>
            </a:r>
          </a:p>
          <a:p xmlns:a="http://schemas.openxmlformats.org/drawingml/2006/main">
            <a:r>
              <a:t>Col 3,12–14. Compasión, bondad y paciencia; por encima de todo, amor (paráfrasis). Una luz para leer el traje de fiesta: dejar que el amor cambie el modo de relacionarnos.</a:t>
            </a:r>
          </a:p>
          <a:p xmlns:a="http://schemas.openxmlformats.org/drawingml/2006/main">
            <a:r>
              <a:t>Fuentes: https://www.conferenciaepiscopal.es/liturgia/ao28.pdf</a:t>
            </a:r>
          </a:p>
          <a:p xmlns:a="http://schemas.openxmlformats.org/drawingml/2006/main">
            <a:r>
              <a:t>https://www.conferenciaepiscopal.es/biblia/lucas/#cap14</a:t>
            </a:r>
          </a:p>
          <a:p xmlns:a="http://schemas.openxmlformats.org/drawingml/2006/main">
            <a:r>
              <a:t>https://www.conferenciaepiscopal.es/biblia/corpus-romanos/#cap15</a:t>
            </a:r>
          </a:p>
          <a:p xmlns:a="http://schemas.openxmlformats.org/drawingml/2006/main">
            <a:r>
              <a:t>https://www.conferenciaepiscopal.es/biblia/colosenses/#cap3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00–08 min. Escuchar. Oír «La fiesta es de todos» completa y dejar un breve silencio.</a:t>
            </a:r>
          </a:p>
          <a:p xmlns:a="http://schemas.openxmlformats.org/drawingml/2006/main">
            <a:r>
              <a:t>¿Qué frase conecta con mi manera de llegar hoy?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08–20 min. Reconocer. Recordar, sin obligación de compartir, un gesto que nos hizo sentir acogidos.</a:t>
            </a:r>
          </a:p>
          <a:p xmlns:a="http://schemas.openxmlformats.org/drawingml/2006/main">
            <a:r>
              <a:t>¿Qué me ayudó a sentir que tenía un sitio?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20–38 min. Iluminar. Leer Mt 22,1–14 completo. Distinguir la invitación, los rechazos y la advertencia final. Relacionar con Col 3,12–14.</a:t>
            </a:r>
          </a:p>
          <a:p xmlns:a="http://schemas.openxmlformats.org/drawingml/2006/main">
            <a:r>
              <a:t>¿Qué respuesta concreta pide la invitación en nuestra vida?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38–58 min. Discernir. Caso ficticio: una persona nueva llega sola al grupo; todos son amables, pero nadie sale de su conversación. Diseñar una acogida respetuosa.</a:t>
            </a:r>
          </a:p>
          <a:p xmlns:a="http://schemas.openxmlformats.org/drawingml/2006/main">
            <a:r>
              <a:t>¿Qué barreras mantenemos aunque digamos que todos caben?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58–70 min. Responder. Elegir un gesto de acogida realizable esta semana. Acordar quién lo hará, cuándo y cómo se revisará; cerrar con una breve oración.</a:t>
            </a:r>
          </a:p>
          <a:p xmlns:a="http://schemas.openxmlformats.org/drawingml/2006/main">
            <a:r>
              <a:t>¿A quién puedo hacer sitio y de qué manera concreta?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Acoger sin forzar a hablar, sonreír o participar. Respetar la intimidad, la libertad y los límites personales. No utilizar el traje de fiesta para juzgar la ropa, la pobreza o el estado de ánimo de nadie. La parábola interpela nuestra respuesta; sus imágenes de castigo no autorizan violencia ni condenas colectivas. Cada persona puede compartir solo lo que desee, guardar silencio o no responder.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d6661a32ca4d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afa6143f944278" /><Relationship Type="http://schemas.openxmlformats.org/officeDocument/2006/relationships/slideLayout" Target="/ppt/slideLayouts/slideLayout1.xml" Id="R0b21523b845140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21523b845140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eb733ebbe4fc9" /><Relationship Type="http://schemas.openxmlformats.org/officeDocument/2006/relationships/image" Target="/ppt/media/image.png" Id="R641286d3520e43d0" /><Relationship Type="http://schemas.openxmlformats.org/officeDocument/2006/relationships/notesSlide" Target="/ppt/notesSlides/notesSlide1.xml" Id="Raa10db24fc6b41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7f524b53140c1" /><Relationship Type="http://schemas.openxmlformats.org/officeDocument/2006/relationships/notesSlide" Target="/ppt/notesSlides/notesSlide2.xml" Id="R98d03c13786d47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13b3272f84ef5" /><Relationship Type="http://schemas.openxmlformats.org/officeDocument/2006/relationships/notesSlide" Target="/ppt/notesSlides/notesSlide3.xml" Id="R006b2b98f5f343f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286d3520e43d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 FIESTA ES DE TODOS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Dejarse acoger y hacer sitio a alguien más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ln w="0">
                  <a:noFill/>
                  <a:prstDash val="solid"/>
                </a:ln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HAGAMOS HUECO</a:t>
            </a:r>
          </a:p>
          <a:p xmlns:a="http://schemas.openxmlformats.org/drawingml/2006/main">
            <a:pPr algn="ctr">
              <a:buNone/>
              <a:defRPr sz="1875" b="1" i="0">
                <a:ln w="0">
                  <a:noFill/>
                  <a:prstDash val="solid"/>
                </a:ln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EN LA MESA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ln w="0">
                  <a:noFill/>
                  <a:prstDash val="solid"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La alegría recibida crece</a:t>
            </a:r>
          </a:p>
          <a:p xmlns:a="http://schemas.openxmlformats.org/drawingml/2006/main">
            <a:pPr algn="l">
              <a:buNone/>
              <a:defRPr sz="1200" b="0" i="0">
                <a:ln w="0">
                  <a:noFill/>
                  <a:prstDash val="solid"/>
                </a:ln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/>
                <a:ea typeface="Calibri"/>
                <a:cs typeface="Calibri"/>
              </a:rPr>
              <a:t>cuando hacemos sitio.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LLEGAR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 hay que fingir alegría.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Entrar como estamos,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sin ocultar el cansancio.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DESCANSAR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Alguien escucha sin prisa.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Dejarse acompañar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y encontrar un lugar.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HACER SITIO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Hay lugar para alguien más.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Mirar quién queda fuera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y facilitar su llegada.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COMPARTIR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 mesa se abre a otros.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Invitar sin exigir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que nos devuelvan nada.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CONTINUAR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 amor sigue mañana.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Hacer de la acogida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DCE3E3"/>
                </a:solidFill>
                <a:latin typeface="Calibri"/>
                <a:ea typeface="Calibri"/>
                <a:cs typeface="Calibri"/>
              </a:rPr>
              <a:t>un cuidado cotidiano.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«Todavía cabe alguien más.»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4D646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4D646B"/>
                </a:solidFill>
                <a:latin typeface="Calibri"/>
                <a:ea typeface="Calibri"/>
                <a:cs typeface="Calibri"/>
              </a:rPr>
              <a:t>La mesa abierta y la respuesta del amor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Is 25,6–9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PARA TODOS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LOS PUEBLOS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Dios prepara la mesa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y enjuga las lágrimas.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También quien llega herido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puede encontrar un lugar.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Lc 14,12–14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SIN ESPERAR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DEVOLUCIÓN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Invitar a quien no puede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devolver la invitación.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Salir del propio círculo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 compartir sin cobrar.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Rom 15,7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COMO CRISTO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NOS ACOGE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Acoger como Cristo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nos ha acogido.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 que hemos recibido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 hace tiempo y escucha.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Col 3,12–14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REVESTIDOS</a:t>
            </a:r>
          </a:p>
          <a:p xmlns:a="http://schemas.openxmlformats.org/drawingml/2006/main">
            <a:pPr algn="l">
              <a:buNone/>
              <a:def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 AMOR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Compasión y paciencia;</a:t>
            </a:r>
          </a:p>
          <a:p xmlns:a="http://schemas.openxmlformats.org/drawingml/2006/main">
            <a:pPr algn="l">
              <a:buNone/>
              <a:def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el amor lo une todo.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 invitación recibida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pide una respuesta de vida.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7151F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7151F"/>
                </a:solidFill>
                <a:latin typeface="Calibri"/>
                <a:ea typeface="Calibri"/>
                <a:cs typeface="Calibri"/>
              </a:rPr>
              <a:t>La acogida recibida se hace sitio para alguien más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40565E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40565E"/>
                </a:solidFill>
                <a:latin typeface="Calibri"/>
                <a:ea typeface="Calibri"/>
                <a:cs typeface="Calibri"/>
              </a:rPr>
              <a:t>Pregunta de fondo: ¿qué cambiar para que alguien nuevo se sienta de verdad en casa?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Hacer sitio en la mesa y en la vida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Oír «La fiesta es de todos» completa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 dejar un breve silencio.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¿Qué frase conecta con mi manera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de llegar hoy?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9A441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RECONOCER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Recordar un gesto que nos hizo sentir acogidos.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Compartirlo es opcional.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¿Qué me ayudó a sentir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que tenía un sitio?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Leer Mt 22,1–14 completo. Invitación y respuesta.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Relacionar con Col 3,12–14.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¿Qué respuesta concreta pide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la invitación en nuestra vida?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D9A441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D9A441"/>
                </a:solidFill>
                <a:latin typeface="Calibri"/>
                <a:ea typeface="Calibri"/>
                <a:cs typeface="Calibri"/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Caso: alguien llega solo y nadie sale de su grupo.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Diseñar una acogida respetuosa.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¿Qué barreras mantenemos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aunque digamos que todos caben?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RESPONDER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Elegir un gesto de acogida para esta semana.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Concretar quién, cuándo y revisión. Orar.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¿A quién puedo hacer sitio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F5E7C3"/>
                </a:solidFill>
                <a:latin typeface="Calibri"/>
                <a:ea typeface="Calibri"/>
                <a:cs typeface="Calibri"/>
              </a:rPr>
              <a:t>y de qué manera concreta?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CRITERIO: acoger sin forzar a hablar ni a sonreír. Respetar la libertad y los límites.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2026-10-05T06:13:52.2050000Z</dcterms:created>
  <dcterms:modified xsi:type="dcterms:W3CDTF">2026-10-05T06:13:52.2050000Z</dcterms:modified>
</coreProperties>
</file>