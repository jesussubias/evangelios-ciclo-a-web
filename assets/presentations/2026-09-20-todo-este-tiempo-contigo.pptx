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efa2f404b94d78" /><Relationship Type="http://schemas.openxmlformats.org/officeDocument/2006/relationships/extended-properties" Target="/docProps/app.xml" Id="Rdbbe60dd269c4444" /><Relationship Type="http://schemas.openxmlformats.org/officeDocument/2006/relationships/officeDocument" Target="/ppt/presentation.xml" Id="R3f9590a3f8714f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494424a6d24291"/>
  </p:sldMasterIdLst>
  <p:notesMasterIdLst>
    <p:notesMasterId xmlns:r="http://schemas.openxmlformats.org/officeDocument/2006/relationships" r:id="Rff38c041f03342e4"/>
  </p:notesMasterIdLst>
  <p:sldIdLst>
    <p:sldId xmlns:r="http://schemas.openxmlformats.org/officeDocument/2006/relationships" id="256" r:id="R2456c867ee4c4387"/>
    <p:sldId xmlns:r="http://schemas.openxmlformats.org/officeDocument/2006/relationships" id="257" r:id="Rc1ed81c510f642ce"/>
    <p:sldId xmlns:r="http://schemas.openxmlformats.org/officeDocument/2006/relationships" id="258" r:id="R709f5c40cb4f42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43af37ea6d4001" /><Relationship Type="http://schemas.openxmlformats.org/officeDocument/2006/relationships/slideMaster" Target="/ppt/slideMasters/slideMaster1.xml" Id="Rfb494424a6d24291" /><Relationship Type="http://schemas.openxmlformats.org/officeDocument/2006/relationships/notesMaster" Target="/ppt/notesMasters/notesMaster1.xml" Id="Rff38c041f03342e4" /><Relationship Type="http://schemas.openxmlformats.org/officeDocument/2006/relationships/presProps" Target="/ppt/presProps.xml" Id="Rdfe6659ca886456f" /><Relationship Type="http://schemas.openxmlformats.org/officeDocument/2006/relationships/viewProps" Target="/ppt/viewProps.xml" Id="Rad0d4f470bf84167" /><Relationship Type="http://schemas.openxmlformats.org/officeDocument/2006/relationships/tableStyles" Target="/ppt/tableStyles.xml" Id="Re34b7a870ef04b17" /><Relationship Type="http://schemas.openxmlformats.org/officeDocument/2006/relationships/slide" Target="/ppt/slides/slide1.xml" Id="R2456c867ee4c4387" /><Relationship Type="http://schemas.openxmlformats.org/officeDocument/2006/relationships/slide" Target="/ppt/slides/slide2.xml" Id="Rc1ed81c510f642ce" /><Relationship Type="http://schemas.openxmlformats.org/officeDocument/2006/relationships/slide" Target="/ppt/slides/slide3.xml" Id="R709f5c40cb4f42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368bef243e44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59a61ebf94407b" /><Relationship Type="http://schemas.openxmlformats.org/officeDocument/2006/relationships/notesMaster" Target="/ppt/notesMasters/notesMaster1.xml" Id="R2d6ab2bb155549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dad737ca0445ec" /><Relationship Type="http://schemas.openxmlformats.org/officeDocument/2006/relationships/notesMaster" Target="/ppt/notesMasters/notesMaster1.xml" Id="R8ca46d5027d845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90958313c64e8f" /><Relationship Type="http://schemas.openxmlformats.org/officeDocument/2006/relationships/notesMaster" Target="/ppt/notesMasters/notesMaster1.xml" Id="R8a8e1d11c47642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Domingo 20 de septiembre de 2026. XXV Domingo del Tiempo Ordinario, ciclo A. Mt 20,1–16.</a:t>
            </a:r>
          </a:p>
          <a:p xmlns:a="http://schemas.openxmlformats.org/drawingml/2006/main">
            <a:r>
              <a:t>Canción y letra definitivas proporcionadas por el usuario: Todo este tiempo contigo.</a:t>
            </a:r>
          </a:p>
          <a:p xmlns:a="http://schemas.openxmlformats.org/drawingml/2006/main">
            <a:r>
              <a:t>El dueño vuelve a la plaza a distintas horas y encuentra personas que aún esperan una oportunidad. Al pagar lo acordado a los primeros y dar lo mismo a los últimos, su generosidad descubre una herida de comparación: lo recibido empieza a parecer poco cuando otros también lo reciben. La canción relee ese malestar desde la gratitud. Las horas de fidelidad contienen también compañía, confianza y amor recibidos. Hacer sitio a quien llega no borra ese camino, sino que permite compartirlo sin convertir la antigüedad en un privilegio que excluye.</a:t>
            </a:r>
          </a:p>
          <a:p xmlns:a="http://schemas.openxmlformats.org/drawingml/2006/main">
            <a:r>
              <a:t>La parábola habla de la generosidad del Reino. No usarla para justificar salarios injustos, explotación, favoritismo o falta de reconocimiento. Acoger a quien llega incluye cuidar el cansancio y repartir responsabilidades con justicia. Nadie está obligado a hablar ni a contar nada personal. Cada persona puede compartir solo lo que desee, guardar silencio o no responder.</a:t>
            </a:r>
          </a:p>
          <a:p xmlns:a="http://schemas.openxmlformats.org/drawingml/2006/main">
            <a:r>
              <a:t>Lectura completa: https://www.conferenciaepiscopal.es/biblia/nuevo-testamento-mateo/#cap20</a:t>
            </a:r>
          </a:p>
          <a:p xmlns:a="http://schemas.openxmlformats.org/drawingml/2006/main">
            <a:r>
              <a:t>La imagen es una recreación generada con IA, no un registro histórico.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Resonancias bíblicas. Los textos de las tarjetas son paráfrasis pastorales, no citas literales.</a:t>
            </a:r>
          </a:p>
          <a:p xmlns:a="http://schemas.openxmlformats.org/drawingml/2006/main">
            <a:r>
              <a:t>Dt 8,2–10: https://www.conferenciaepiscopal.es/biblia/deuteronomio/#cap8</a:t>
            </a:r>
          </a:p>
          <a:p xmlns:a="http://schemas.openxmlformats.org/drawingml/2006/main">
            <a:r>
              <a:t>Is 55,6–9: https://www.conferenciaepiscopal.es/biblia/isaias/#cap55</a:t>
            </a:r>
          </a:p>
          <a:p xmlns:a="http://schemas.openxmlformats.org/drawingml/2006/main">
            <a:r>
              <a:t>Lc 15,25–32: https://www.conferenciaepiscopal.es/biblia/lucas/#cap15</a:t>
            </a:r>
          </a:p>
          <a:p xmlns:a="http://schemas.openxmlformats.org/drawingml/2006/main">
            <a:r>
              <a:t>Rom 12,15: https://www.conferenciaepiscopal.es/biblia/corpus-romanos/#cap12</a:t>
            </a:r>
          </a:p>
          <a:p xmlns:a="http://schemas.openxmlformats.org/drawingml/2006/main">
            <a:r>
              <a:t>Dt 8,2–10: Israel aprende a reconocer el cuidado de Dios en una historia que no se explica solo por su propio esfuerzo.</a:t>
            </a:r>
          </a:p>
          <a:p xmlns:a="http://schemas.openxmlformats.org/drawingml/2006/main">
            <a:r>
              <a:t>Is 55,6–9: La generosidad divina invita a revisar lo que consideramos merecido y a dejar espacio a una misericordia mayor.</a:t>
            </a:r>
          </a:p>
          <a:p xmlns:a="http://schemas.openxmlformats.org/drawingml/2006/main">
            <a:r>
              <a:t>Lc 15,25–32: La fiesta por quien regresa no niega el amor al que permaneció. El padre desea que ambos compartan la casa.</a:t>
            </a:r>
          </a:p>
          <a:p xmlns:a="http://schemas.openxmlformats.org/drawingml/2006/main">
            <a:r>
              <a:t>Rom 12,15: La comunidad madura cuando puede celebrar el bien ajeno y acompañar el dolor sin competir por el reconocimiento.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00–08 min. Escuchar. Oír «Todo este tiempo contigo» completa y guardar un momento de silencio.</a:t>
            </a:r>
          </a:p>
          <a:p xmlns:a="http://schemas.openxmlformats.org/drawingml/2006/main">
            <a:r>
              <a:t>¿Qué frase me ayuda a reconocer lo recibido?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08–20 min. Recordar. Tarjeta personal opcional: lo que entregué / lo que recibí durante ese tiempo.</a:t>
            </a:r>
          </a:p>
          <a:p xmlns:a="http://schemas.openxmlformats.org/drawingml/2006/main">
            <a:r>
              <a:t>¿Quién estuvo a mi lado mientras yo contaba las horas?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20–38 min. Iluminar. Leer Mt 20,1–16 y observar las llamadas, el acuerdo y las distintas reacciones al jornal.</a:t>
            </a:r>
          </a:p>
          <a:p xmlns:a="http://schemas.openxmlformats.org/drawingml/2006/main">
            <a:r>
              <a:t>¿Qué sabemos de los últimos y qué damos por supuesto?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38–58 min. Dialogar. Caso ficticio: una persona nueva recibe una responsabilidad y quienes llevan años se sienten poco reconocidos.</a:t>
            </a:r>
          </a:p>
          <a:p xmlns:a="http://schemas.openxmlformats.org/drawingml/2006/main">
            <a:r>
              <a:t>¿Cómo cuidar el cansancio y abrir una participación real?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58–70 min. Responder. Elegir un agradecimiento y un gesto concreto de acogida para esta semana.</a:t>
            </a:r>
          </a:p>
          <a:p xmlns:a="http://schemas.openxmlformats.org/drawingml/2006/main">
            <a:r>
              <a:t>¿A quién puedo decir: me hace bien tenerte aquí?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 parábola habla de la generosidad del Reino. No usarla para justificar salarios injustos, explotación, favoritismo o falta de reconocimiento. Acoger a quien llega incluye cuidar el cansancio y repartir responsabilidades con justicia. Nadie está obligado a hablar ni a contar nada personal. Cada persona puede compartir solo lo que desee, guardar silencio o no responder.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789d11cc574b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a0e172fbc64338" /><Relationship Type="http://schemas.openxmlformats.org/officeDocument/2006/relationships/slideLayout" Target="/ppt/slideLayouts/slideLayout1.xml" Id="R904974f2fbde45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4974f2fbde45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c93aeee45847ff" /><Relationship Type="http://schemas.openxmlformats.org/officeDocument/2006/relationships/image" Target="/ppt/media/image.png" Id="R7b3bb241ef424a2c" /><Relationship Type="http://schemas.openxmlformats.org/officeDocument/2006/relationships/notesSlide" Target="/ppt/notesSlides/notesSlide1.xml" Id="R50548277d9d74a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04411dce64447" /><Relationship Type="http://schemas.openxmlformats.org/officeDocument/2006/relationships/notesSlide" Target="/ppt/notesSlides/notesSlide2.xml" Id="R4987a44b439642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ea01e053d4d03" /><Relationship Type="http://schemas.openxmlformats.org/officeDocument/2006/relationships/notesSlide" Target="/ppt/notesSlides/notesSlide3.xml" Id="R18c9133e32ae41e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3bb241ef424a2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TODO ESTE TIEMPO CONTIGO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Reconocer lo recibido y hacer sitio a quien llega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ln w="0">
                  <a:noFill/>
                  <a:prstDash val="solid"/>
                </a:ln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ea typeface="Calibri"/>
                <a:cs typeface="Calibri"/>
              </a:rPr>
              <a:t>TU ALEGRÍA</a:t>
            </a:r>
          </a:p>
          <a:p xmlns:a="http://schemas.openxmlformats.org/drawingml/2006/main">
            <a:pPr algn="ctr">
              <a:buNone/>
              <a:defRPr sz="1875" b="1" i="0">
                <a:ln w="0">
                  <a:noFill/>
                  <a:prstDash val="solid"/>
                </a:ln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ea typeface="Calibri"/>
                <a:cs typeface="Calibri"/>
              </a:rPr>
              <a:t>TAMBIÉN ES MÍA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ln w="0">
                  <a:noFill/>
                  <a:prstDash val="solid"/>
                </a:ln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ea typeface="Calibri"/>
                <a:cs typeface="Calibri"/>
              </a:rPr>
              <a:t>El amor recibido ensancha la mirada.</a:t>
            </a:r>
          </a:p>
          <a:p xmlns:a="http://schemas.openxmlformats.org/drawingml/2006/main">
            <a:pPr algn="l">
              <a:buNone/>
              <a:defRPr sz="1200" b="0" i="0">
                <a:ln w="0">
                  <a:noFill/>
                  <a:prstDash val="solid"/>
                </a:ln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  <a:ea typeface="Calibri"/>
                <a:cs typeface="Calibri"/>
              </a:rPr>
              <a:t>Quien llega también tiene sitio aquí.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D9A441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4E7C5"/>
                </a:solidFill>
                <a:latin typeface="Calibri"/>
                <a:ea typeface="Calibri"/>
                <a:cs typeface="Calibri"/>
              </a:rPr>
              <a:t>RECONOCER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esfuerzo tiene valor.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Nombrar el cansancio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sin vivir comparándonos.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D9A441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4E7C5"/>
                </a:solidFill>
                <a:latin typeface="Calibri"/>
                <a:ea typeface="Calibri"/>
                <a:cs typeface="Calibri"/>
              </a:rPr>
              <a:t>RECORDAR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También recibí amor.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Releer mi historia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con ojos agradecidos.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D9A441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4E7C5"/>
                </a:solidFill>
                <a:latin typeface="Calibri"/>
                <a:ea typeface="Calibri"/>
                <a:cs typeface="Calibri"/>
              </a:rPr>
              <a:t>MIRAR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Cada llegada tiene historia.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Conocer a quien llega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sin dar nada por supuesto.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D9A441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4E7C5"/>
                </a:solidFill>
                <a:latin typeface="Calibri"/>
                <a:ea typeface="Calibri"/>
                <a:cs typeface="Calibri"/>
              </a:rPr>
              <a:t>ALEGRARSE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bien ajeno no me resta.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Compartir la alegría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que antes comparaba.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D9A441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4E7C5"/>
                </a:solidFill>
                <a:latin typeface="Calibri"/>
                <a:ea typeface="Calibri"/>
                <a:cs typeface="Calibri"/>
              </a:rPr>
              <a:t>ACOGER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Hay sitio para compartir.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Abrir una tarea real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defRPr>
            </a:pPr>
            <a:r>
              <a:rPr sz="1050" b="0" i="0">
                <a:solidFill>
                  <a:srgbClr val="DCE3E3"/>
                </a:solidFill>
                <a:latin typeface="Calibri"/>
                <a:ea typeface="Calibri"/>
                <a:cs typeface="Calibri"/>
              </a:rPr>
              <a:t>y cuidar a quien ya está.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«Me hace bien tenerte aquí.»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4D646B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4D646B"/>
                </a:solidFill>
                <a:latin typeface="Calibri"/>
                <a:ea typeface="Calibri"/>
                <a:cs typeface="Calibri"/>
              </a:rPr>
              <a:t>La memoria agradecida ayuda a acoger sin compararnos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Dt 8,2–10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RECORDAR</a:t>
            </a:r>
          </a:p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CAMINO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Memoria del camino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y del alimento recibido.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Reconocer el cuidado de Dios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 la historia compartida.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Is 55,6–9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UNA MIRADA</a:t>
            </a:r>
          </a:p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MÁS AMPLIA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Los caminos de Dios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desbordan los cálculos.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 generosidad invita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revisar lo que esperamos.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Lc 15,25–32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HERMANO</a:t>
            </a:r>
          </a:p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 VUELVE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El padre sale también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al encuentro del mayor.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 fiesta por quien llega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borra el amor al que está.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Rom 12,15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COMPARTIR</a:t>
            </a:r>
          </a:p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 ALEGRÍA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Hacer propia la alegría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de los demás.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Celebrar el bien ajeno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 competir por el lugar.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7151F"/>
                </a:solidFill>
                <a:latin typeface="Calibri"/>
                <a:ea typeface="Calibri"/>
                <a:cs typeface="Calibri"/>
              </a:defRPr>
            </a:pPr>
            <a:r>
              <a:rPr sz="1425" b="1" i="0">
                <a:solidFill>
                  <a:srgbClr val="07151F"/>
                </a:solidFill>
                <a:latin typeface="Calibri"/>
                <a:ea typeface="Calibri"/>
                <a:cs typeface="Calibri"/>
              </a:rPr>
              <a:t>Recordar el cuidado recibido abre espacio para compartir la alegría.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40565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40565E"/>
                </a:solidFill>
                <a:latin typeface="Calibri"/>
                <a:ea typeface="Calibri"/>
                <a:cs typeface="Calibri"/>
              </a:rPr>
              <a:t>Pregunta de fondo: ¿qué cambia al acoger cuando recuerdo cuánto he recibido?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La fidelidad vivida desde la gratitud y la acogida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Oír «Todo este tiempo contigo»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 guardar un momento de silencio.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¿Qué frase me ayuda a reconocer lo recibido?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RECORDAR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Tarjeta opcional: lo que entregué /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 que recibí durante ese tiempo.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¿Quién estuvo a mi lado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mientras yo contaba las horas?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Leer Mt 20,1–16: llamadas, acuerdo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 reacciones al recibir el jornal.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¿Qué sabemos de los últimos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y qué damos por supuesto?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D9A441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D9A441"/>
                </a:solidFill>
                <a:latin typeface="Calibri"/>
                <a:ea typeface="Calibri"/>
                <a:cs typeface="Calibri"/>
              </a:rPr>
              <a:t>DIALOGAR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Caso: alguien nuevo recibe una tarea.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Los de siempre se sienten olvidados.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¿Cómo cuidar el cansancio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y abrir una participación real?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Elegir un agradecimiento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 un gesto de acogida esta semana.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¿A quién puedo decir: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F5E7C3"/>
                </a:solidFill>
                <a:latin typeface="Calibri"/>
                <a:ea typeface="Calibri"/>
                <a:cs typeface="Calibri"/>
              </a:rPr>
              <a:t>me hace bien tenerte aquí?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CRITERIO: la gratuidad no justifica injusticias ni sobrecarga. Compartir es siempre voluntario.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2026-09-11T15:06:46.6560000Z</dcterms:created>
  <dcterms:modified xsi:type="dcterms:W3CDTF">2026-09-11T15:06:46.6560000Z</dcterms:modified>
</coreProperties>
</file>