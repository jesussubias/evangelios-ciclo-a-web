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8cd6c0505e4d38" /><Relationship Type="http://schemas.openxmlformats.org/officeDocument/2006/relationships/extended-properties" Target="/docProps/app.xml" Id="R008ffbc260df4043" /><Relationship Type="http://schemas.openxmlformats.org/officeDocument/2006/relationships/officeDocument" Target="/ppt/presentation.xml" Id="R49de17a624b647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a7c1823d3d4c24"/>
  </p:sldMasterIdLst>
  <p:notesMasterIdLst>
    <p:notesMasterId xmlns:r="http://schemas.openxmlformats.org/officeDocument/2006/relationships" r:id="R4228dab36068423b"/>
  </p:notesMasterIdLst>
  <p:sldIdLst>
    <p:sldId xmlns:r="http://schemas.openxmlformats.org/officeDocument/2006/relationships" id="256" r:id="R616aad5d484541dd"/>
    <p:sldId xmlns:r="http://schemas.openxmlformats.org/officeDocument/2006/relationships" id="257" r:id="R42d4a4a7a1f74efd"/>
    <p:sldId xmlns:r="http://schemas.openxmlformats.org/officeDocument/2006/relationships" id="258" r:id="R4d93ee6912344f0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de0522398947d7" /><Relationship Type="http://schemas.openxmlformats.org/officeDocument/2006/relationships/slideMaster" Target="/ppt/slideMasters/slideMaster1.xml" Id="R55a7c1823d3d4c24" /><Relationship Type="http://schemas.openxmlformats.org/officeDocument/2006/relationships/notesMaster" Target="/ppt/notesMasters/notesMaster1.xml" Id="R4228dab36068423b" /><Relationship Type="http://schemas.openxmlformats.org/officeDocument/2006/relationships/presProps" Target="/ppt/presProps.xml" Id="R88263389c4454c9a" /><Relationship Type="http://schemas.openxmlformats.org/officeDocument/2006/relationships/viewProps" Target="/ppt/viewProps.xml" Id="Rd29ee72338db4e70" /><Relationship Type="http://schemas.openxmlformats.org/officeDocument/2006/relationships/tableStyles" Target="/ppt/tableStyles.xml" Id="R62c26bc04efb436d" /><Relationship Type="http://schemas.openxmlformats.org/officeDocument/2006/relationships/slide" Target="/ppt/slides/slide1.xml" Id="R616aad5d484541dd" /><Relationship Type="http://schemas.openxmlformats.org/officeDocument/2006/relationships/slide" Target="/ppt/slides/slide2.xml" Id="R42d4a4a7a1f74efd" /><Relationship Type="http://schemas.openxmlformats.org/officeDocument/2006/relationships/slide" Target="/ppt/slides/slide3.xml" Id="R4d93ee6912344f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e3c739a3b94a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e0468731dc49ea" /><Relationship Type="http://schemas.openxmlformats.org/officeDocument/2006/relationships/notesMaster" Target="/ppt/notesMasters/notesMaster1.xml" Id="R6141a372826440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46e64e7acd4e16" /><Relationship Type="http://schemas.openxmlformats.org/officeDocument/2006/relationships/notesMaster" Target="/ppt/notesMasters/notesMaster1.xml" Id="R665848e4ccf7457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71121b5d4374f04" /><Relationship Type="http://schemas.openxmlformats.org/officeDocument/2006/relationships/notesMaster" Target="/ppt/notesMasters/notesMaster1.xml" Id="R7e6b79d64c8e4f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Lectura del mapa: raíz, reconciliar, mirar, cuidar y hablar. Jesús no se limita a endurecer normas: lleva la ley a la raíz de la vida para que relación, deseo, compromiso y palabra puedan integrarse. El texto toca zonas sensibles; no convertirlo en un examen moral ni en una acusación. Reconciliar requiere verdad, reparación posible, justicia, límites y seguridad. La mirada reconoce al otro como sujeto, nunca como objeto. La palabra fiable puede incluir un sí sostenible y también un no libre.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Puede asignarse una resonancia a cada pareja. Jeremías sitúa la alianza en el interior; Efesios une verdad y amor; Proverbios invita a cuidar la fuente de la vida; Santiago retoma el sí y el no de Jesús. Evitar presentar el corazón como pura emoción o la coherencia como perfección sin fisuras. La integración cristiana es un proceso: reconoce el daño, ordena el deseo, repara cuando es seguro y aprende una palabra responsable.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Material: audio Que tu sí sea sí, copias de Mt 5,17–24.27–28.33–37, tarjetas, bolígrafos y tres casos ficticios. Nadie tiene que contar experiencias de ira, sexualidad, pareja, divorcio, abuso o traición; compartir y pasar son opciones válidas. No equiparar reconciliación con retomar contacto ni perdón con renunciar a justicia, protección o distancia. No discutir historias reales de terceras personas. Ante abuso, coacción o riesgo, priorizar seguridad y ayuda especializada. Cerrar con un sí sostenible y un no protector, sin recoger ni publicar lo escrito.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ca3e6f66cc49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7a0af183c74d7c" /><Relationship Type="http://schemas.openxmlformats.org/officeDocument/2006/relationships/slideLayout" Target="/ppt/slideLayouts/slideLayout1.xml" Id="R36af49c03c7f45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af49c03c7f45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3f0091b5a34c96" /><Relationship Type="http://schemas.openxmlformats.org/officeDocument/2006/relationships/image" Target="/ppt/media/image.png" Id="R8eadfc2306314c67" /><Relationship Type="http://schemas.openxmlformats.org/officeDocument/2006/relationships/notesSlide" Target="/ppt/notesSlides/notesSlide1.xml" Id="R278263886c044e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c177cccf184e1d" /><Relationship Type="http://schemas.openxmlformats.org/officeDocument/2006/relationships/notesSlide" Target="/ppt/notesSlides/notesSlide2.xml" Id="Re568d83b11c040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3b986e26224202" /><Relationship Type="http://schemas.openxmlformats.org/officeDocument/2006/relationships/notesSlide" Target="/ppt/notesSlides/notesSlide3.xml" Id="R9b386b34c78c44e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Imagen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adfc2306314c6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B76F925A-853B-4B63-B630-E7E0361BA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2395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Rectángulo 2">
            <a:extLst xmlns:a="http://schemas.openxmlformats.org/drawingml/2006/main">
              <a:ext uri="{FF2B5EF4-FFF2-40B4-BE49-F238E27FC236}">
                <a16:creationId xmlns:a16="http://schemas.microsoft.com/office/drawing/2014/main" id="{FB1C263C-5E91-44EE-907E-89FD0281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57700"/>
            <a:ext cx="12192000" cy="24003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4" name="Rectángulo 3">
            <a:extLst xmlns:a="http://schemas.openxmlformats.org/drawingml/2006/main">
              <a:ext uri="{FF2B5EF4-FFF2-40B4-BE49-F238E27FC236}">
                <a16:creationId xmlns:a16="http://schemas.microsoft.com/office/drawing/2014/main" id="{B76D6CD6-C65C-4094-B79C-E893F194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QUE TU SÍ SEA SÍ</a:t>
            </a:r>
          </a:p>
        </p:txBody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5912B2F9-7ECB-4D03-9D83-96A67B67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F5E7C3"/>
                </a:solidFill>
              </a:defRPr>
            </a:pPr>
            <a:r>
              <a:rPr sz="1275">
                <a:solidFill>
                  <a:srgbClr val="F5E7C3"/>
                </a:solidFill>
              </a:rPr>
              <a:t>La verdad que nace de un corazón entero</a:t>
            </a:r>
          </a:p>
        </p:txBody>
      </p:sp>
      <p:sp>
        <p:nvSpPr>
          <p:cNvPr id="6" name="Rectángulo: esquinas redondeadas 5">
            <a:extLst xmlns:a="http://schemas.openxmlformats.org/drawingml/2006/main">
              <a:ext uri="{FF2B5EF4-FFF2-40B4-BE49-F238E27FC236}">
                <a16:creationId xmlns:a16="http://schemas.microsoft.com/office/drawing/2014/main" id="{6BA613D3-A121-4C21-8A6A-26CE265C2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381125"/>
            <a:ext cx="4305300" cy="1581150"/>
          </a:xfrm>
          <a:prstGeom xmlns:a="http://schemas.openxmlformats.org/drawingml/2006/main" prst="roundRect">
            <a:avLst>
              <a:gd name="adj" fmla="val 7229"/>
            </a:avLst>
          </a:prstGeom>
          <a:ln xmlns:a="http://schemas.openxmlformats.org/drawingml/2006/main" w="9525">
            <a:solidFill>
              <a:srgbClr val="C7B379"/>
            </a:solidFill>
            <a:prstDash val="solid"/>
          </a:ln>
        </p:spPr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D33900F7-2BFB-4C08-9991-E4DBC79C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52575"/>
            <a:ext cx="3162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>
                <a:ln w="0"/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UN CORAZÓN ENTERO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</a:defRPr>
            </a:pPr>
            <a:r>
              <a:rPr sz="1875">
                <a:ln w="0"/>
                <a:solidFill>
                  <a:srgbClr val="F5E7C3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DICE LA VERDAD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F9A3AF1-988D-4987-A2AF-F5D5DBBF3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00275"/>
            <a:ext cx="3848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FFFFF"/>
                </a:solidFill>
              </a:defRPr>
            </a:pPr>
            <a:r>
              <a:rPr sz="120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Jesús lleva la ley a su raíz:</a:t>
            </a:r>
          </a:p>
          <a:p xmlns:a="http://schemas.openxmlformats.org/drawingml/2006/main">
            <a:pPr>
              <a:buNone/>
              <a:defRPr sz="1200" b="0">
                <a:solidFill>
                  <a:srgbClr val="FFFFFF"/>
                </a:solidFill>
              </a:defRPr>
            </a:pPr>
            <a:r>
              <a:rPr sz="120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relación, deseo y palabra.</a:t>
            </a:r>
          </a:p>
        </p:txBody>
      </p:sp>
      <p:sp>
        <p:nvSpPr>
          <p:cNvPr id="9" name="Conector recto 8">
            <a:extLst xmlns:a="http://schemas.openxmlformats.org/drawingml/2006/main">
              <a:ext uri="{FF2B5EF4-FFF2-40B4-BE49-F238E27FC236}">
                <a16:creationId xmlns:a16="http://schemas.microsoft.com/office/drawing/2014/main" id="{766AD396-925D-4C92-B794-935B24E5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76275" y="4600575"/>
            <a:ext cx="1075372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DA64F"/>
            </a:solidFill>
            <a:prstDash val="solid"/>
          </a:ln>
        </p:spPr>
      </p:sp>
      <p:sp>
        <p:nvSpPr>
          <p:cNvPr id="10" name="Elipse 9">
            <a:extLst xmlns:a="http://schemas.openxmlformats.org/drawingml/2006/main">
              <a:ext uri="{FF2B5EF4-FFF2-40B4-BE49-F238E27FC236}">
                <a16:creationId xmlns:a16="http://schemas.microsoft.com/office/drawing/2014/main" id="{125F3B06-0623-45FC-A98E-F08D0AB8A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665761AE-B378-4760-9A4B-68132258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1</a:t>
            </a:r>
          </a:p>
        </p:txBody>
      </p:sp>
      <p:sp>
        <p:nvSpPr>
          <p:cNvPr id="12" name="Rectángulo 11">
            <a:extLst xmlns:a="http://schemas.openxmlformats.org/drawingml/2006/main">
              <a:ext uri="{FF2B5EF4-FFF2-40B4-BE49-F238E27FC236}">
                <a16:creationId xmlns:a16="http://schemas.microsoft.com/office/drawing/2014/main" id="{12613CD1-C39B-4AAF-BBCE-27BE8132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RAÍZ</a:t>
            </a:r>
          </a:p>
        </p:txBody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73132C27-ABFD-4365-B43B-986B5714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Jesús cumple la ley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y la lleva al corazón.</a:t>
            </a:r>
          </a:p>
        </p:txBody>
      </p:sp>
      <p:sp>
        <p:nvSpPr>
          <p:cNvPr id="14" name="Conector recto 13">
            <a:extLst xmlns:a="http://schemas.openxmlformats.org/drawingml/2006/main">
              <a:ext uri="{FF2B5EF4-FFF2-40B4-BE49-F238E27FC236}">
                <a16:creationId xmlns:a16="http://schemas.microsoft.com/office/drawing/2014/main" id="{743C9350-C4A1-4490-AD9D-DD5C3BAC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1D8BD664-2AAB-48D3-BBB2-62EFB4D7A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La coherencia empieza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antes del gesto visible.</a:t>
            </a:r>
          </a:p>
        </p:txBody>
      </p:sp>
      <p:sp>
        <p:nvSpPr>
          <p:cNvPr id="16" name="Elipse 15">
            <a:extLst xmlns:a="http://schemas.openxmlformats.org/drawingml/2006/main">
              <a:ext uri="{FF2B5EF4-FFF2-40B4-BE49-F238E27FC236}">
                <a16:creationId xmlns:a16="http://schemas.microsoft.com/office/drawing/2014/main" id="{B66FFF91-9CA2-4037-A956-A2DE54CB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3DE679FA-D2A8-430A-B3B4-C3932A72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2</a:t>
            </a:r>
          </a:p>
        </p:txBody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C6E15EEF-3684-4338-8BA0-DF2F682E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RECONCILIAR</a:t>
            </a:r>
          </a:p>
        </p:txBody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C5A39A7D-9CD1-42F2-A7DB-5F0014AC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El desprecio hiere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antes que la violencia.</a:t>
            </a:r>
          </a:p>
        </p:txBody>
      </p:sp>
      <p:sp>
        <p:nvSpPr>
          <p:cNvPr id="20" name="Conector recto 19">
            <a:extLst xmlns:a="http://schemas.openxmlformats.org/drawingml/2006/main">
              <a:ext uri="{FF2B5EF4-FFF2-40B4-BE49-F238E27FC236}">
                <a16:creationId xmlns:a16="http://schemas.microsoft.com/office/drawing/2014/main" id="{C915E308-4F55-4006-BE35-D83ACB19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CEE927DE-097C-47A0-8B22-8024ECD0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Reparar exige verdad,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justicia y seguridad.</a:t>
            </a:r>
          </a:p>
        </p:txBody>
      </p:sp>
      <p:sp>
        <p:nvSpPr>
          <p:cNvPr id="22" name="Elipse 21">
            <a:extLst xmlns:a="http://schemas.openxmlformats.org/drawingml/2006/main">
              <a:ext uri="{FF2B5EF4-FFF2-40B4-BE49-F238E27FC236}">
                <a16:creationId xmlns:a16="http://schemas.microsoft.com/office/drawing/2014/main" id="{26BBFF55-7514-457A-AE5C-C740E04E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B5775468-8B8E-4ABF-B92E-67DADC5F8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3</a:t>
            </a:r>
          </a:p>
        </p:txBody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D935F955-A505-483F-A10A-C7C65AD1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MIRAR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35129EB-3FA7-4669-BF9F-26DE8F4B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El deseo puede cuidar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o convertir en objeto.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7679B2FF-34E5-4D19-851E-EC869FF0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42D02D78-9FF2-44F5-B00A-5FE232E3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Dignidad, libertad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y consentimiento.</a:t>
            </a:r>
          </a:p>
        </p:txBody>
      </p:sp>
      <p:sp>
        <p:nvSpPr>
          <p:cNvPr id="28" name="Elipse 27">
            <a:extLst xmlns:a="http://schemas.openxmlformats.org/drawingml/2006/main">
              <a:ext uri="{FF2B5EF4-FFF2-40B4-BE49-F238E27FC236}">
                <a16:creationId xmlns:a16="http://schemas.microsoft.com/office/drawing/2014/main" id="{BE26EAC8-47A2-4607-BEFE-2460A2FF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8B3C1128-2625-4751-800D-21D264F8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02290257-ADD7-4E95-946B-FC1D86FB6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CUIDAR</a:t>
            </a:r>
          </a:p>
        </p:txBody>
      </p:sp>
      <p:sp>
        <p:nvSpPr>
          <p:cNvPr id="31" name="Rectángulo 30">
            <a:extLst xmlns:a="http://schemas.openxmlformats.org/drawingml/2006/main">
              <a:ext uri="{FF2B5EF4-FFF2-40B4-BE49-F238E27FC236}">
                <a16:creationId xmlns:a16="http://schemas.microsoft.com/office/drawing/2014/main" id="{B00D536D-D621-4236-AF48-F610F2F9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Los compromisos piden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verdad y responsabilidad.</a:t>
            </a:r>
          </a:p>
        </p:txBody>
      </p:sp>
      <p:sp>
        <p:nvSpPr>
          <p:cNvPr id="32" name="Conector recto 31">
            <a:extLst xmlns:a="http://schemas.openxmlformats.org/drawingml/2006/main">
              <a:ext uri="{FF2B5EF4-FFF2-40B4-BE49-F238E27FC236}">
                <a16:creationId xmlns:a16="http://schemas.microsoft.com/office/drawing/2014/main" id="{8C8B5876-7F3F-4B03-90C7-DD63DB08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F935BB92-EC79-495F-BBBD-30B0F3EA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Un límite protege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la vida y la relación.</a:t>
            </a:r>
          </a:p>
        </p:txBody>
      </p:sp>
      <p:sp>
        <p:nvSpPr>
          <p:cNvPr id="34" name="Elipse 33">
            <a:extLst xmlns:a="http://schemas.openxmlformats.org/drawingml/2006/main">
              <a:ext uri="{FF2B5EF4-FFF2-40B4-BE49-F238E27FC236}">
                <a16:creationId xmlns:a16="http://schemas.microsoft.com/office/drawing/2014/main" id="{2FF2A9B7-688D-4C1E-AE74-25F236D3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862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731CFFEA-8755-4D80-99D5-85B69C56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958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07151F"/>
                </a:solidFill>
              </a:defRPr>
            </a:pPr>
            <a:r>
              <a:rPr sz="750" b="1">
                <a:solidFill>
                  <a:srgbClr val="07151F"/>
                </a:solidFill>
              </a:rPr>
              <a:t>5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E4B35737-4FF5-4FFB-B35C-BF0791C4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686300"/>
            <a:ext cx="21240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D9A441"/>
                </a:solidFill>
              </a:defRPr>
            </a:pPr>
            <a:r>
              <a:rPr sz="1200" b="1">
                <a:solidFill>
                  <a:srgbClr val="D9A441"/>
                </a:solidFill>
              </a:rPr>
              <a:t>HABLAR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D3C05DC6-EEF3-47D1-8D15-FD1B0863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4981575"/>
            <a:ext cx="2124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El sí y el no nacen</a:t>
            </a:r>
          </a:p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de una palabra habitable.</a:t>
            </a:r>
          </a:p>
        </p:txBody>
      </p:sp>
      <p:sp>
        <p:nvSpPr>
          <p:cNvPr id="38" name="Conector recto 37">
            <a:extLst xmlns:a="http://schemas.openxmlformats.org/drawingml/2006/main">
              <a:ext uri="{FF2B5EF4-FFF2-40B4-BE49-F238E27FC236}">
                <a16:creationId xmlns:a16="http://schemas.microsoft.com/office/drawing/2014/main" id="{3579FD05-578B-414A-A46E-83F30DAF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05450"/>
            <a:ext cx="20097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E858D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C276F3AF-1F6D-406C-A755-D267075D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572125"/>
            <a:ext cx="21240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Sin teatro, presión</a:t>
            </a:r>
          </a:p>
          <a:p xmlns:a="http://schemas.openxmlformats.org/drawingml/2006/main">
            <a:pPr>
              <a:buNone/>
              <a:defRPr sz="1050" b="0">
                <a:solidFill>
                  <a:srgbClr val="DCE3E3"/>
                </a:solidFill>
              </a:defRPr>
            </a:pPr>
            <a:r>
              <a:rPr sz="1050" b="0">
                <a:solidFill>
                  <a:srgbClr val="DCE3E3"/>
                </a:solidFill>
              </a:rPr>
              <a:t>ni doblez.</a:t>
            </a:r>
          </a:p>
        </p:txBody>
      </p:sp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BBFA0AF3-1233-4EED-9907-CF97B9DD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«Que tu sí sea sí, dicho despacio»</a:t>
            </a:r>
          </a:p>
        </p:txBody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F331B9A7-E894-478D-B98F-65FC4F15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150455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Rectángulo 39">
            <a:extLst xmlns:a="http://schemas.openxmlformats.org/drawingml/2006/main">
              <a:ext uri="{FF2B5EF4-FFF2-40B4-BE49-F238E27FC236}">
                <a16:creationId xmlns:a16="http://schemas.microsoft.com/office/drawing/2014/main" id="{72F37E03-C2AE-4457-92CB-8FFA9A73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07151F"/>
                </a:solidFill>
              </a:defRPr>
            </a:pPr>
            <a:r>
              <a:rPr sz="2250" b="1">
                <a:solidFill>
                  <a:srgbClr val="07151F"/>
                </a:solidFill>
              </a:rPr>
              <a:t>CUATRO RESONANCIAS BÍBLICAS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A32D06E0-C229-427F-A845-5B0388C55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D646B"/>
                </a:solidFill>
              </a:defRPr>
            </a:pPr>
            <a:r>
              <a:rPr sz="1200" b="0">
                <a:solidFill>
                  <a:srgbClr val="4D646B"/>
                </a:solidFill>
              </a:rPr>
              <a:t>La verdad interior se vuelve relación, cuidado y palabra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011AFFC2-C892-49BF-B5B8-38CA089B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Rectángulo: esquinas redondeadas 3">
            <a:extLst xmlns:a="http://schemas.openxmlformats.org/drawingml/2006/main">
              <a:ext uri="{FF2B5EF4-FFF2-40B4-BE49-F238E27FC236}">
                <a16:creationId xmlns:a16="http://schemas.microsoft.com/office/drawing/2014/main" id="{ED4C0F0B-03BD-4136-B8C9-08B2D21A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0D2A38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Rectángulo 4">
            <a:extLst xmlns:a="http://schemas.openxmlformats.org/drawingml/2006/main">
              <a:ext uri="{FF2B5EF4-FFF2-40B4-BE49-F238E27FC236}">
                <a16:creationId xmlns:a16="http://schemas.microsoft.com/office/drawing/2014/main" id="{4E9E5A45-0DB9-40E5-9BE5-787146AD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01</a:t>
            </a:r>
          </a:p>
        </p:txBody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E40C7DFE-33ED-454A-AB51-137E5FDD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Jer 31,33</a:t>
            </a:r>
          </a:p>
        </p:txBody>
      </p:sp>
      <p:sp>
        <p:nvSpPr>
          <p:cNvPr id="7" name="Conector recto 6">
            <a:extLst xmlns:a="http://schemas.openxmlformats.org/drawingml/2006/main">
              <a:ext uri="{FF2B5EF4-FFF2-40B4-BE49-F238E27FC236}">
                <a16:creationId xmlns:a16="http://schemas.microsoft.com/office/drawing/2014/main" id="{713B4E51-C338-4275-8ED9-A48BAEF7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80C421F1-9F2E-477F-BA2B-79164E95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LEY EN EL CORAZÓN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1537AC9D-01DD-431D-A0B8-2736697D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«Pondré mi ley en su interior y la escribiré en sus corazones.»</a:t>
            </a:r>
          </a:p>
        </p:txBody>
      </p:sp>
      <p:sp>
        <p:nvSpPr>
          <p:cNvPr id="10" name="Conector recto 9">
            <a:extLst xmlns:a="http://schemas.openxmlformats.org/drawingml/2006/main">
              <a:ext uri="{FF2B5EF4-FFF2-40B4-BE49-F238E27FC236}">
                <a16:creationId xmlns:a16="http://schemas.microsoft.com/office/drawing/2014/main" id="{E31F0AC1-698A-4C06-85A6-017D1212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51FA8C67-5C0F-4F4B-BCAC-CA72A523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La alianza deja de ser solo mandato externo: la voluntad de Dios se aprende desde dentro.</a:t>
            </a:r>
          </a:p>
        </p:txBody>
      </p:sp>
      <p:sp>
        <p:nvSpPr>
          <p:cNvPr id="12" name="Rectángulo: esquinas redondeadas 11">
            <a:extLst xmlns:a="http://schemas.openxmlformats.org/drawingml/2006/main">
              <a:ext uri="{FF2B5EF4-FFF2-40B4-BE49-F238E27FC236}">
                <a16:creationId xmlns:a16="http://schemas.microsoft.com/office/drawing/2014/main" id="{B54CCF2A-F82C-4629-9AEC-6C0E8321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355A478B-DBB8-47C8-8164-6A9D50E1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71B0A35-DB7C-48DB-9465-948C04C0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Ef 4,15</a:t>
            </a:r>
          </a:p>
        </p:txBody>
      </p:sp>
      <p:sp>
        <p:nvSpPr>
          <p:cNvPr id="15" name="Conector recto 14">
            <a:extLst xmlns:a="http://schemas.openxmlformats.org/drawingml/2006/main">
              <a:ext uri="{FF2B5EF4-FFF2-40B4-BE49-F238E27FC236}">
                <a16:creationId xmlns:a16="http://schemas.microsoft.com/office/drawing/2014/main" id="{66CA8D28-498A-402B-98C3-16AAF5309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500BD432-5A8A-4615-A99B-AF730BB2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VERDAD EN EL AMOR</a:t>
            </a:r>
          </a:p>
        </p:txBody>
      </p:sp>
      <p:sp>
        <p:nvSpPr>
          <p:cNvPr id="17" name="Rectángulo 16">
            <a:extLst xmlns:a="http://schemas.openxmlformats.org/drawingml/2006/main">
              <a:ext uri="{FF2B5EF4-FFF2-40B4-BE49-F238E27FC236}">
                <a16:creationId xmlns:a16="http://schemas.microsoft.com/office/drawing/2014/main" id="{2A29B886-2F11-434C-AEB0-140D65C3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«Viviendo la verdad en el amor, crezcamos en todo.»</a:t>
            </a:r>
          </a:p>
        </p:txBody>
      </p:sp>
      <p:sp>
        <p:nvSpPr>
          <p:cNvPr id="18" name="Conector recto 17">
            <a:extLst xmlns:a="http://schemas.openxmlformats.org/drawingml/2006/main">
              <a:ext uri="{FF2B5EF4-FFF2-40B4-BE49-F238E27FC236}">
                <a16:creationId xmlns:a16="http://schemas.microsoft.com/office/drawing/2014/main" id="{58FF9ECC-73F3-426D-9AB0-734B1EDA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19" name="Rectángulo 18">
            <a:extLst xmlns:a="http://schemas.openxmlformats.org/drawingml/2006/main">
              <a:ext uri="{FF2B5EF4-FFF2-40B4-BE49-F238E27FC236}">
                <a16:creationId xmlns:a16="http://schemas.microsoft.com/office/drawing/2014/main" id="{88D83548-307E-4D0D-A2BB-45A12131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La verdad cristiana no se impone ni humilla: busca el bien del otro y hace posible crecer.</a:t>
            </a:r>
          </a:p>
        </p:txBody>
      </p:sp>
      <p:sp>
        <p:nvSpPr>
          <p:cNvPr id="20" name="Rectángulo: esquinas redondeadas 19">
            <a:extLst xmlns:a="http://schemas.openxmlformats.org/drawingml/2006/main">
              <a:ext uri="{FF2B5EF4-FFF2-40B4-BE49-F238E27FC236}">
                <a16:creationId xmlns:a16="http://schemas.microsoft.com/office/drawing/2014/main" id="{83F9E9AD-DC76-4724-B8B0-4CD903AF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865B4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D36563D4-1A9D-44B1-8E7D-442814D5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03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727E3E34-3C0F-4D35-A6B6-B7F48852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Prov 4,23</a:t>
            </a:r>
          </a:p>
        </p:txBody>
      </p:sp>
      <p:sp>
        <p:nvSpPr>
          <p:cNvPr id="23" name="Conector recto 22">
            <a:extLst xmlns:a="http://schemas.openxmlformats.org/drawingml/2006/main">
              <a:ext uri="{FF2B5EF4-FFF2-40B4-BE49-F238E27FC236}">
                <a16:creationId xmlns:a16="http://schemas.microsoft.com/office/drawing/2014/main" id="{721D9E58-FFC0-47B8-98D6-BC3CC419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24" name="Rectángulo 23">
            <a:extLst xmlns:a="http://schemas.openxmlformats.org/drawingml/2006/main">
              <a:ext uri="{FF2B5EF4-FFF2-40B4-BE49-F238E27FC236}">
                <a16:creationId xmlns:a16="http://schemas.microsoft.com/office/drawing/2014/main" id="{300E4868-92F9-40B4-9D0E-435EAB60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GUARDAR EL CORAZÓN</a:t>
            </a:r>
          </a:p>
        </p:txBody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BC582428-796B-4095-98B6-3C2A6FDD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«Por encima de todo, guarda tu corazón, porque de él brota la vida.»</a:t>
            </a:r>
          </a:p>
        </p:txBody>
      </p:sp>
      <p:sp>
        <p:nvSpPr>
          <p:cNvPr id="26" name="Conector recto 25">
            <a:extLst xmlns:a="http://schemas.openxmlformats.org/drawingml/2006/main">
              <a:ext uri="{FF2B5EF4-FFF2-40B4-BE49-F238E27FC236}">
                <a16:creationId xmlns:a16="http://schemas.microsoft.com/office/drawing/2014/main" id="{20EA01E7-7751-4CD8-9B07-E89134ED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77EED197-C142-4BC9-AC15-FD8B4BE9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Cuidar la raíz no es reprimir la vida: es impedir que desprecio, uso o doblez la gobiernen.</a:t>
            </a:r>
          </a:p>
        </p:txBody>
      </p:sp>
      <p:sp>
        <p:nvSpPr>
          <p:cNvPr id="28" name="Rectángulo: esquinas redondeadas 27">
            <a:extLst xmlns:a="http://schemas.openxmlformats.org/drawingml/2006/main">
              <a:ext uri="{FF2B5EF4-FFF2-40B4-BE49-F238E27FC236}">
                <a16:creationId xmlns:a16="http://schemas.microsoft.com/office/drawing/2014/main" id="{77FC9282-B573-472C-9171-60922622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381125"/>
            <a:ext cx="2533650" cy="39052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5A5135"/>
          </a:solidFill>
          <a:ln xmlns:a="http://schemas.openxmlformats.org/drawingml/2006/main" w="9525">
            <a:solidFill>
              <a:srgbClr val="D8C48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2AC27A7E-3684-497B-92CE-AF102E6E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811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D9A441"/>
                </a:solidFill>
              </a:defRPr>
            </a:pPr>
            <a:r>
              <a:rPr sz="975" b="1">
                <a:solidFill>
                  <a:srgbClr val="D9A441"/>
                </a:solidFill>
              </a:rPr>
              <a:t>04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541B0600-63A3-4D50-8DCD-C2A91BC9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621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5E7C3"/>
                </a:solidFill>
              </a:defRPr>
            </a:pPr>
            <a:r>
              <a:rPr sz="1200" b="1">
                <a:solidFill>
                  <a:srgbClr val="F5E7C3"/>
                </a:solidFill>
              </a:rPr>
              <a:t>Sant 5,12</a:t>
            </a:r>
          </a:p>
        </p:txBody>
      </p:sp>
      <p:sp>
        <p:nvSpPr>
          <p:cNvPr id="31" name="Conector recto 30">
            <a:extLst xmlns:a="http://schemas.openxmlformats.org/drawingml/2006/main">
              <a:ext uri="{FF2B5EF4-FFF2-40B4-BE49-F238E27FC236}">
                <a16:creationId xmlns:a16="http://schemas.microsoft.com/office/drawing/2014/main" id="{CD0F8830-070D-4550-BAC0-0FCBBE3D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71675"/>
            <a:ext cx="2152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6A5A2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2F68BC15-077A-4086-B47D-446BC43F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33600"/>
            <a:ext cx="2152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PALABRA FIABLE</a:t>
            </a:r>
          </a:p>
        </p:txBody>
      </p:sp>
      <p:sp>
        <p:nvSpPr>
          <p:cNvPr id="33" name="Rectángulo 32">
            <a:extLst xmlns:a="http://schemas.openxmlformats.org/drawingml/2006/main">
              <a:ext uri="{FF2B5EF4-FFF2-40B4-BE49-F238E27FC236}">
                <a16:creationId xmlns:a16="http://schemas.microsoft.com/office/drawing/2014/main" id="{9B1D6005-D34A-4E37-9CFF-143BEC9B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71775"/>
            <a:ext cx="2152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5E7C3"/>
                </a:solidFill>
              </a:defRPr>
            </a:pPr>
            <a:r>
              <a:rPr sz="1350" b="1">
                <a:solidFill>
                  <a:srgbClr val="F5E7C3"/>
                </a:solidFill>
              </a:rPr>
              <a:t>«Que vuestro sí sea sí y vuestro no, no.»</a:t>
            </a:r>
          </a:p>
        </p:txBody>
      </p:sp>
      <p:sp>
        <p:nvSpPr>
          <p:cNvPr id="34" name="Conector recto 33">
            <a:extLst xmlns:a="http://schemas.openxmlformats.org/drawingml/2006/main">
              <a:ext uri="{FF2B5EF4-FFF2-40B4-BE49-F238E27FC236}">
                <a16:creationId xmlns:a16="http://schemas.microsoft.com/office/drawing/2014/main" id="{097B30E3-4B9F-42F8-A9F7-556491E30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57625"/>
            <a:ext cx="571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695C0E6E-C3AE-4CF8-8FEA-6B5576C7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57650"/>
            <a:ext cx="21526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La palabra deja de necesitar juramentos cuando nace de una vida veraz, libre y responsable.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B381F95A-49F1-4757-9BCD-58948874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81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D9A441"/>
                </a:solidFill>
              </a:defRPr>
            </a:pPr>
            <a:r>
              <a:rPr sz="1050" b="1">
                <a:solidFill>
                  <a:srgbClr val="D9A441"/>
                </a:solidFill>
              </a:rPr>
              <a:t>SÍNTESIS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1C5AD733-368F-4750-80C9-D90C0662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95925"/>
            <a:ext cx="998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7151F"/>
                </a:solidFill>
              </a:defRPr>
            </a:pPr>
            <a:r>
              <a:rPr sz="1425" b="1">
                <a:solidFill>
                  <a:srgbClr val="07151F"/>
                </a:solidFill>
              </a:rPr>
              <a:t>Ley interior  ·  verdad que cuida  ·  deseo ordenado  ·  palabra fiable</a:t>
            </a:r>
          </a:p>
        </p:txBody>
      </p:sp>
      <p:sp>
        <p:nvSpPr>
          <p:cNvPr id="38" name="Rectángulo 37">
            <a:extLst xmlns:a="http://schemas.openxmlformats.org/drawingml/2006/main">
              <a:ext uri="{FF2B5EF4-FFF2-40B4-BE49-F238E27FC236}">
                <a16:creationId xmlns:a16="http://schemas.microsoft.com/office/drawing/2014/main" id="{10B79631-8116-4707-9F97-E11C327D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769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40565E"/>
                </a:solidFill>
              </a:defRPr>
            </a:pPr>
            <a:r>
              <a:rPr sz="1350" b="0">
                <a:solidFill>
                  <a:srgbClr val="40565E"/>
                </a:solidFill>
              </a:rPr>
              <a:t>Pregunta de fondo: ¿dónde se separan hoy lo que pienso, digo y hago?</a:t>
            </a:r>
          </a:p>
        </p:txBody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4360E03B-D8D8-40B4-A0BC-61403AB2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63775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Rectángulo 42">
            <a:extLst xmlns:a="http://schemas.openxmlformats.org/drawingml/2006/main">
              <a:ext uri="{FF2B5EF4-FFF2-40B4-BE49-F238E27FC236}">
                <a16:creationId xmlns:a16="http://schemas.microsoft.com/office/drawing/2014/main" id="{53C88EF1-7990-4A69-ABBC-6CF451A0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PROPUESTA DE REUNIÓN · 70 MINUTOS</a:t>
            </a:r>
          </a:p>
        </p:txBody>
      </p:sp>
      <p:sp>
        <p:nvSpPr>
          <p:cNvPr id="2" name="Rectángulo 1">
            <a:extLst xmlns:a="http://schemas.openxmlformats.org/drawingml/2006/main">
              <a:ext uri="{FF2B5EF4-FFF2-40B4-BE49-F238E27FC236}">
                <a16:creationId xmlns:a16="http://schemas.microsoft.com/office/drawing/2014/main" id="{92328298-5735-44A1-9D3B-60B29C4F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F5E7C3"/>
                </a:solidFill>
              </a:defRPr>
            </a:pPr>
            <a:r>
              <a:rPr sz="1200" b="0">
                <a:solidFill>
                  <a:srgbClr val="F5E7C3"/>
                </a:solidFill>
              </a:rPr>
              <a:t>De la apariencia a una palabra que se puede habitar</a:t>
            </a:r>
          </a:p>
        </p:txBody>
      </p:sp>
      <p:sp>
        <p:nvSpPr>
          <p:cNvPr id="3" name="Conector recto 2">
            <a:extLst xmlns:a="http://schemas.openxmlformats.org/drawingml/2006/main">
              <a:ext uri="{FF2B5EF4-FFF2-40B4-BE49-F238E27FC236}">
                <a16:creationId xmlns:a16="http://schemas.microsoft.com/office/drawing/2014/main" id="{10BC4743-C41F-4DB3-AE82-190DDB79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A441"/>
            </a:solidFill>
            <a:prstDash val="solid"/>
          </a:ln>
        </p:spPr>
      </p:sp>
      <p:sp>
        <p:nvSpPr>
          <p:cNvPr id="4" name="Conector recto 3">
            <a:extLst xmlns:a="http://schemas.openxmlformats.org/drawingml/2006/main">
              <a:ext uri="{FF2B5EF4-FFF2-40B4-BE49-F238E27FC236}">
                <a16:creationId xmlns:a16="http://schemas.microsoft.com/office/drawing/2014/main" id="{6375B53B-3AA1-4460-8323-A486114C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619250"/>
            <a:ext cx="9525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27984"/>
            </a:solidFill>
            <a:prstDash val="solid"/>
          </a:ln>
        </p:spPr>
      </p:sp>
      <p:sp>
        <p:nvSpPr>
          <p:cNvPr id="5" name="Elipse 4">
            <a:extLst xmlns:a="http://schemas.openxmlformats.org/drawingml/2006/main">
              <a:ext uri="{FF2B5EF4-FFF2-40B4-BE49-F238E27FC236}">
                <a16:creationId xmlns:a16="http://schemas.microsoft.com/office/drawing/2014/main" id="{E8FF985D-7012-4049-8855-F4E7978E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47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6" name="Rectángulo 5">
            <a:extLst xmlns:a="http://schemas.openxmlformats.org/drawingml/2006/main">
              <a:ext uri="{FF2B5EF4-FFF2-40B4-BE49-F238E27FC236}">
                <a16:creationId xmlns:a16="http://schemas.microsoft.com/office/drawing/2014/main" id="{BCCD8C92-E8A4-4942-8D70-4FEB7321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4668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Rectángulo 6">
            <a:extLst xmlns:a="http://schemas.openxmlformats.org/drawingml/2006/main">
              <a:ext uri="{FF2B5EF4-FFF2-40B4-BE49-F238E27FC236}">
                <a16:creationId xmlns:a16="http://schemas.microsoft.com/office/drawing/2014/main" id="{7D28D4B5-83E9-4A6C-BA6E-7AF1E133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00′</a:t>
            </a:r>
          </a:p>
        </p:txBody>
      </p:sp>
      <p:sp>
        <p:nvSpPr>
          <p:cNvPr id="8" name="Rectángulo 7">
            <a:extLst xmlns:a="http://schemas.openxmlformats.org/drawingml/2006/main">
              <a:ext uri="{FF2B5EF4-FFF2-40B4-BE49-F238E27FC236}">
                <a16:creationId xmlns:a16="http://schemas.microsoft.com/office/drawing/2014/main" id="{B2EA4705-1FF4-4311-96DC-0AAD55DB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3525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ESCUCHAR</a:t>
            </a:r>
          </a:p>
        </p:txBody>
      </p:sp>
      <p:sp>
        <p:nvSpPr>
          <p:cNvPr id="9" name="Rectángulo 8">
            <a:extLst xmlns:a="http://schemas.openxmlformats.org/drawingml/2006/main">
              <a:ext uri="{FF2B5EF4-FFF2-40B4-BE49-F238E27FC236}">
                <a16:creationId xmlns:a16="http://schemas.microsoft.com/office/drawing/2014/main" id="{477E6774-15D6-4800-8AA4-01B6AE426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6478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Oír «Que tu sí sea sí» completa, sin explicarla todavía.</a:t>
            </a:r>
          </a:p>
        </p:txBody>
      </p:sp>
      <p:sp>
        <p:nvSpPr>
          <p:cNvPr id="10" name="Rectángulo: esquinas redondeadas 9">
            <a:extLst xmlns:a="http://schemas.openxmlformats.org/drawingml/2006/main">
              <a:ext uri="{FF2B5EF4-FFF2-40B4-BE49-F238E27FC236}">
                <a16:creationId xmlns:a16="http://schemas.microsoft.com/office/drawing/2014/main" id="{2093CDD0-60C3-4498-B8E9-DFB2374B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3525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1" name="Rectángulo 10">
            <a:extLst xmlns:a="http://schemas.openxmlformats.org/drawingml/2006/main">
              <a:ext uri="{FF2B5EF4-FFF2-40B4-BE49-F238E27FC236}">
                <a16:creationId xmlns:a16="http://schemas.microsoft.com/office/drawing/2014/main" id="{3A81FBB7-1C20-4A8B-B498-33B54ED26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4478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frase describe una vida sin teatro ni doblez?</a:t>
            </a:r>
          </a:p>
        </p:txBody>
      </p:sp>
      <p:sp>
        <p:nvSpPr>
          <p:cNvPr id="12" name="Elipse 11">
            <a:extLst xmlns:a="http://schemas.openxmlformats.org/drawingml/2006/main">
              <a:ext uri="{FF2B5EF4-FFF2-40B4-BE49-F238E27FC236}">
                <a16:creationId xmlns:a16="http://schemas.microsoft.com/office/drawing/2014/main" id="{82CE6E74-11DE-4371-9707-7D819C30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62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13" name="Rectángulo 12">
            <a:extLst xmlns:a="http://schemas.openxmlformats.org/drawingml/2006/main">
              <a:ext uri="{FF2B5EF4-FFF2-40B4-BE49-F238E27FC236}">
                <a16:creationId xmlns:a16="http://schemas.microsoft.com/office/drawing/2014/main" id="{6E14E9C9-CBA7-46E4-9814-7F335CF5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Rectángulo 13">
            <a:extLst xmlns:a="http://schemas.openxmlformats.org/drawingml/2006/main">
              <a:ext uri="{FF2B5EF4-FFF2-40B4-BE49-F238E27FC236}">
                <a16:creationId xmlns:a16="http://schemas.microsoft.com/office/drawing/2014/main" id="{E292DDD7-9BF5-4785-AA91-207E5346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08′</a:t>
            </a:r>
          </a:p>
        </p:txBody>
      </p:sp>
      <p:sp>
        <p:nvSpPr>
          <p:cNvPr id="15" name="Rectángulo 14">
            <a:extLst xmlns:a="http://schemas.openxmlformats.org/drawingml/2006/main">
              <a:ext uri="{FF2B5EF4-FFF2-40B4-BE49-F238E27FC236}">
                <a16:creationId xmlns:a16="http://schemas.microsoft.com/office/drawing/2014/main" id="{A514BB4A-2401-4F6B-BDB3-187145CB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669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RECONOCER</a:t>
            </a:r>
          </a:p>
        </p:txBody>
      </p:sp>
      <p:sp>
        <p:nvSpPr>
          <p:cNvPr id="16" name="Rectángulo 15">
            <a:extLst xmlns:a="http://schemas.openxmlformats.org/drawingml/2006/main">
              <a:ext uri="{FF2B5EF4-FFF2-40B4-BE49-F238E27FC236}">
                <a16:creationId xmlns:a16="http://schemas.microsoft.com/office/drawing/2014/main" id="{98ED842D-F6DE-40B3-A888-6D81AA91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5622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Tarjeta opcional: «un sí que puedo sostener» / «un no que necesito decir».</a:t>
            </a:r>
          </a:p>
        </p:txBody>
      </p:sp>
      <p:sp>
        <p:nvSpPr>
          <p:cNvPr id="17" name="Rectángulo: esquinas redondeadas 16">
            <a:extLst xmlns:a="http://schemas.openxmlformats.org/drawingml/2006/main">
              <a:ext uri="{FF2B5EF4-FFF2-40B4-BE49-F238E27FC236}">
                <a16:creationId xmlns:a16="http://schemas.microsoft.com/office/drawing/2014/main" id="{844D3CC3-83C2-4555-AA49-17F6F035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669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18" name="Rectángulo 17">
            <a:extLst xmlns:a="http://schemas.openxmlformats.org/drawingml/2006/main">
              <a:ext uri="{FF2B5EF4-FFF2-40B4-BE49-F238E27FC236}">
                <a16:creationId xmlns:a16="http://schemas.microsoft.com/office/drawing/2014/main" id="{70419300-4ED5-4180-85A1-517F52DF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622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¿Dónde noto distancia entre lo que siento, digo y hago?</a:t>
            </a:r>
          </a:p>
        </p:txBody>
      </p:sp>
      <p:sp>
        <p:nvSpPr>
          <p:cNvPr id="19" name="Elipse 18">
            <a:extLst xmlns:a="http://schemas.openxmlformats.org/drawingml/2006/main">
              <a:ext uri="{FF2B5EF4-FFF2-40B4-BE49-F238E27FC236}">
                <a16:creationId xmlns:a16="http://schemas.microsoft.com/office/drawing/2014/main" id="{21440157-A5B3-4220-B61D-9DB2AB3D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0" name="Rectángulo 19">
            <a:extLst xmlns:a="http://schemas.openxmlformats.org/drawingml/2006/main">
              <a:ext uri="{FF2B5EF4-FFF2-40B4-BE49-F238E27FC236}">
                <a16:creationId xmlns:a16="http://schemas.microsoft.com/office/drawing/2014/main" id="{98DCD944-D80F-4335-93F8-2FBC2D62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956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Rectángulo 20">
            <a:extLst xmlns:a="http://schemas.openxmlformats.org/drawingml/2006/main">
              <a:ext uri="{FF2B5EF4-FFF2-40B4-BE49-F238E27FC236}">
                <a16:creationId xmlns:a16="http://schemas.microsoft.com/office/drawing/2014/main" id="{3195E1D4-5B20-49BE-92FF-51BA140D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20′</a:t>
            </a:r>
          </a:p>
        </p:txBody>
      </p:sp>
      <p:sp>
        <p:nvSpPr>
          <p:cNvPr id="22" name="Rectángulo 21">
            <a:extLst xmlns:a="http://schemas.openxmlformats.org/drawingml/2006/main">
              <a:ext uri="{FF2B5EF4-FFF2-40B4-BE49-F238E27FC236}">
                <a16:creationId xmlns:a16="http://schemas.microsoft.com/office/drawing/2014/main" id="{15AF171C-7201-47F1-AED5-9E8D2810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813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ILUMINAR</a:t>
            </a:r>
          </a:p>
        </p:txBody>
      </p:sp>
      <p:sp>
        <p:nvSpPr>
          <p:cNvPr id="23" name="Rectángulo 22">
            <a:extLst xmlns:a="http://schemas.openxmlformats.org/drawingml/2006/main">
              <a:ext uri="{FF2B5EF4-FFF2-40B4-BE49-F238E27FC236}">
                <a16:creationId xmlns:a16="http://schemas.microsoft.com/office/drawing/2014/main" id="{5685EC69-1FED-4758-B7B9-83DB3A0B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766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Leer Mt 5,17–24.27–28.33–37 y marcar: raíz, daño, cuidado y verdad.</a:t>
            </a:r>
          </a:p>
        </p:txBody>
      </p:sp>
      <p:sp>
        <p:nvSpPr>
          <p:cNvPr id="24" name="Rectángulo: esquinas redondeadas 23">
            <a:extLst xmlns:a="http://schemas.openxmlformats.org/drawingml/2006/main">
              <a:ext uri="{FF2B5EF4-FFF2-40B4-BE49-F238E27FC236}">
                <a16:creationId xmlns:a16="http://schemas.microsoft.com/office/drawing/2014/main" id="{906FFFBE-D862-49A8-9A23-FFDE300E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813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25" name="Rectángulo 24">
            <a:extLst xmlns:a="http://schemas.openxmlformats.org/drawingml/2006/main">
              <a:ext uri="{FF2B5EF4-FFF2-40B4-BE49-F238E27FC236}">
                <a16:creationId xmlns:a16="http://schemas.microsoft.com/office/drawing/2014/main" id="{7CFFC0D1-2720-4CFD-8F95-8EB2A021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766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raíz quiere cuidar Jesús antes de que el daño crezca?</a:t>
            </a:r>
          </a:p>
        </p:txBody>
      </p:sp>
      <p:sp>
        <p:nvSpPr>
          <p:cNvPr id="26" name="Elipse 25">
            <a:extLst xmlns:a="http://schemas.openxmlformats.org/drawingml/2006/main">
              <a:ext uri="{FF2B5EF4-FFF2-40B4-BE49-F238E27FC236}">
                <a16:creationId xmlns:a16="http://schemas.microsoft.com/office/drawing/2014/main" id="{6E6643F4-6238-46E9-8AB2-F53E1FDC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191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27" name="Rectángulo 26">
            <a:extLst xmlns:a="http://schemas.openxmlformats.org/drawingml/2006/main">
              <a:ext uri="{FF2B5EF4-FFF2-40B4-BE49-F238E27FC236}">
                <a16:creationId xmlns:a16="http://schemas.microsoft.com/office/drawing/2014/main" id="{87CC754A-24A1-4F48-96FC-75E0CBD3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100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Rectángulo 27">
            <a:extLst xmlns:a="http://schemas.openxmlformats.org/drawingml/2006/main">
              <a:ext uri="{FF2B5EF4-FFF2-40B4-BE49-F238E27FC236}">
                <a16:creationId xmlns:a16="http://schemas.microsoft.com/office/drawing/2014/main" id="{F2300832-27E6-4A62-B815-CC398E77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38′</a:t>
            </a:r>
          </a:p>
        </p:txBody>
      </p:sp>
      <p:sp>
        <p:nvSpPr>
          <p:cNvPr id="29" name="Rectángulo 28">
            <a:extLst xmlns:a="http://schemas.openxmlformats.org/drawingml/2006/main">
              <a:ext uri="{FF2B5EF4-FFF2-40B4-BE49-F238E27FC236}">
                <a16:creationId xmlns:a16="http://schemas.microsoft.com/office/drawing/2014/main" id="{7834DC01-F13F-45A7-B827-2EFCF258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095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DISCERNIR</a:t>
            </a:r>
          </a:p>
        </p:txBody>
      </p:sp>
      <p:sp>
        <p:nvSpPr>
          <p:cNvPr id="30" name="Rectángulo 29">
            <a:extLst xmlns:a="http://schemas.openxmlformats.org/drawingml/2006/main">
              <a:ext uri="{FF2B5EF4-FFF2-40B4-BE49-F238E27FC236}">
                <a16:creationId xmlns:a16="http://schemas.microsoft.com/office/drawing/2014/main" id="{E215B0C6-630D-414B-854B-6049BC88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3910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En tríos, elegir ante casos ficticios: reparar, poner límite o pedir ayuda.</a:t>
            </a:r>
          </a:p>
        </p:txBody>
      </p:sp>
      <p:sp>
        <p:nvSpPr>
          <p:cNvPr id="31" name="Rectángulo: esquinas redondeadas 30">
            <a:extLst xmlns:a="http://schemas.openxmlformats.org/drawingml/2006/main">
              <a:ext uri="{FF2B5EF4-FFF2-40B4-BE49-F238E27FC236}">
                <a16:creationId xmlns:a16="http://schemas.microsoft.com/office/drawing/2014/main" id="{4DE7B454-0DF5-46AF-8F41-F50C7147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0957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2" name="Rectángulo 31">
            <a:extLst xmlns:a="http://schemas.openxmlformats.org/drawingml/2006/main">
              <a:ext uri="{FF2B5EF4-FFF2-40B4-BE49-F238E27FC236}">
                <a16:creationId xmlns:a16="http://schemas.microsoft.com/office/drawing/2014/main" id="{3F3B248E-9AFD-4821-9A04-E4B2993B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910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respuesta une verdad, cuidado, justicia y seguridad?</a:t>
            </a:r>
          </a:p>
        </p:txBody>
      </p:sp>
      <p:sp>
        <p:nvSpPr>
          <p:cNvPr id="33" name="Elipse 32">
            <a:extLst xmlns:a="http://schemas.openxmlformats.org/drawingml/2006/main">
              <a:ext uri="{FF2B5EF4-FFF2-40B4-BE49-F238E27FC236}">
                <a16:creationId xmlns:a16="http://schemas.microsoft.com/office/drawing/2014/main" id="{E1ED5C02-4073-4A3B-AF10-4A0648C3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05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6B4A"/>
          </a:solidFill>
          <a:ln xmlns:a="http://schemas.openxmlformats.org/drawingml/2006/main" w="9525">
            <a:solidFill>
              <a:srgbClr val="F5E7C3"/>
            </a:solidFill>
          </a:ln>
        </p:spPr>
      </p:sp>
      <p:sp>
        <p:nvSpPr>
          <p:cNvPr id="34" name="Rectángulo 33">
            <a:extLst xmlns:a="http://schemas.openxmlformats.org/drawingml/2006/main">
              <a:ext uri="{FF2B5EF4-FFF2-40B4-BE49-F238E27FC236}">
                <a16:creationId xmlns:a16="http://schemas.microsoft.com/office/drawing/2014/main" id="{F49ADBB0-2D51-41F5-9F5F-40B5F266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2445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Rectángulo 34">
            <a:extLst xmlns:a="http://schemas.openxmlformats.org/drawingml/2006/main">
              <a:ext uri="{FF2B5EF4-FFF2-40B4-BE49-F238E27FC236}">
                <a16:creationId xmlns:a16="http://schemas.microsoft.com/office/drawing/2014/main" id="{336EC6DF-7239-4253-9ACE-80243B29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244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AAB9BC"/>
                </a:solidFill>
              </a:defRPr>
            </a:pPr>
            <a:r>
              <a:rPr sz="975" b="1">
                <a:solidFill>
                  <a:srgbClr val="AAB9BC"/>
                </a:solidFill>
              </a:rPr>
              <a:t>58′</a:t>
            </a:r>
          </a:p>
        </p:txBody>
      </p:sp>
      <p:sp>
        <p:nvSpPr>
          <p:cNvPr id="36" name="Rectángulo 35">
            <a:extLst xmlns:a="http://schemas.openxmlformats.org/drawingml/2006/main">
              <a:ext uri="{FF2B5EF4-FFF2-40B4-BE49-F238E27FC236}">
                <a16:creationId xmlns:a16="http://schemas.microsoft.com/office/drawing/2014/main" id="{89AB0ED0-9F6F-4E16-8BD6-1E0D0433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10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D9A441"/>
                </a:solidFill>
              </a:defRPr>
            </a:pPr>
            <a:r>
              <a:rPr sz="1350" b="1">
                <a:solidFill>
                  <a:srgbClr val="D9A441"/>
                </a:solidFill>
              </a:rPr>
              <a:t>RESPONDER</a:t>
            </a:r>
          </a:p>
        </p:txBody>
      </p:sp>
      <p:sp>
        <p:nvSpPr>
          <p:cNvPr id="37" name="Rectángulo 36">
            <a:extLst xmlns:a="http://schemas.openxmlformats.org/drawingml/2006/main">
              <a:ext uri="{FF2B5EF4-FFF2-40B4-BE49-F238E27FC236}">
                <a16:creationId xmlns:a16="http://schemas.microsoft.com/office/drawing/2014/main" id="{CEED62F7-9C9A-4EFF-AE0F-74788206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0542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Escribir un sí sostenible y un no protector. Compartir libremente y orar.</a:t>
            </a:r>
          </a:p>
        </p:txBody>
      </p:sp>
      <p:sp>
        <p:nvSpPr>
          <p:cNvPr id="38" name="Rectángulo: esquinas redondeadas 37">
            <a:extLst xmlns:a="http://schemas.openxmlformats.org/drawingml/2006/main">
              <a:ext uri="{FF2B5EF4-FFF2-40B4-BE49-F238E27FC236}">
                <a16:creationId xmlns:a16="http://schemas.microsoft.com/office/drawing/2014/main" id="{192F604F-0693-4338-B4C8-60A0986B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010150"/>
            <a:ext cx="4953000" cy="666750"/>
          </a:xfrm>
          <a:prstGeom xmlns:a="http://schemas.openxmlformats.org/drawingml/2006/main" prst="roundRect">
            <a:avLst>
              <a:gd name="adj" fmla="val 17143"/>
            </a:avLst>
          </a:prstGeom>
          <a:ln xmlns:a="http://schemas.openxmlformats.org/drawingml/2006/main" w="9525">
            <a:solidFill>
              <a:srgbClr val="6E8790"/>
            </a:solidFill>
            <a:prstDash val="solid"/>
          </a:ln>
        </p:spPr>
      </p:sp>
      <p:sp>
        <p:nvSpPr>
          <p:cNvPr id="39" name="Rectángulo 38">
            <a:extLst xmlns:a="http://schemas.openxmlformats.org/drawingml/2006/main">
              <a:ext uri="{FF2B5EF4-FFF2-40B4-BE49-F238E27FC236}">
                <a16:creationId xmlns:a16="http://schemas.microsoft.com/office/drawing/2014/main" id="{E1A9E620-0DA6-4D84-A6FA-A22825ED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05400"/>
            <a:ext cx="4514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F5E7C3"/>
                </a:solidFill>
              </a:defRPr>
            </a:pPr>
            <a:r>
              <a:rPr sz="1275" b="1">
                <a:solidFill>
                  <a:srgbClr val="F5E7C3"/>
                </a:solidFill>
              </a:rPr>
              <a:t>¿Qué palabra concreta puede hacer más coherente mi semana?</a:t>
            </a:r>
          </a:p>
        </p:txBody>
      </p:sp>
      <p:sp>
        <p:nvSpPr>
          <p:cNvPr id="40" name="Rectángulo: esquinas redondeadas 39">
            <a:extLst xmlns:a="http://schemas.openxmlformats.org/drawingml/2006/main">
              <a:ext uri="{FF2B5EF4-FFF2-40B4-BE49-F238E27FC236}">
                <a16:creationId xmlns:a16="http://schemas.microsoft.com/office/drawing/2014/main" id="{4ED58C9D-8432-446A-B976-960336A9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048375"/>
            <a:ext cx="9725025" cy="447675"/>
          </a:xfrm>
          <a:prstGeom xmlns:a="http://schemas.openxmlformats.org/drawingml/2006/main" prst="roundRect">
            <a:avLst>
              <a:gd name="adj" fmla="val 25532"/>
            </a:avLst>
          </a:prstGeom>
          <a:ln xmlns:a="http://schemas.openxmlformats.org/drawingml/2006/main" w="9525">
            <a:solidFill>
              <a:srgbClr val="D9A441"/>
            </a:solidFill>
            <a:prstDash val="solid"/>
          </a:ln>
        </p:spPr>
      </p:sp>
      <p:sp>
        <p:nvSpPr>
          <p:cNvPr id="41" name="Rectángulo 40">
            <a:extLst xmlns:a="http://schemas.openxmlformats.org/drawingml/2006/main">
              <a:ext uri="{FF2B5EF4-FFF2-40B4-BE49-F238E27FC236}">
                <a16:creationId xmlns:a16="http://schemas.microsoft.com/office/drawing/2014/main" id="{1E9C6448-F067-47A4-9BF5-FD916857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124575"/>
            <a:ext cx="9344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CRITERIO: no pedir confesiones; usar casos ficticios. Reconciliar no exige volver al peligro: un «no» claro también puede ser fiel. Ante abuso o coacción, priorizar seguridad y ayuda.</a:t>
            </a:r>
          </a:p>
        </p:txBody>
      </p:sp>
      <p:sp>
        <p:nvSpPr>
          <p:cNvPr id="42" name="Rectángulo 41">
            <a:extLst xmlns:a="http://schemas.openxmlformats.org/drawingml/2006/main">
              <a:ext uri="{FF2B5EF4-FFF2-40B4-BE49-F238E27FC236}">
                <a16:creationId xmlns:a16="http://schemas.microsoft.com/office/drawing/2014/main" id="{B8673AC7-8C86-4415-B176-1DC3C973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29375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B8C3C7"/>
                </a:solidFill>
              </a:defRPr>
            </a:pPr>
            <a:r>
              <a:rPr sz="825" b="0">
                <a:solidFill>
                  <a:srgbClr val="B8C3C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084964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2026-07-16T20:45:33.8120000Z</dcterms:created>
  <dcterms:modified xsi:type="dcterms:W3CDTF">2026-07-16T20:45:33.8120000Z</dcterms:modified>
</coreProperties>
</file>