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74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Lectura del mapa: comenzar por el límite de nuestra mirada; subrayar la iniciativa de Dios; detenerse en el silencio fecundo; presentar la conversión como disponibilidad; terminar en el fruto común. Idea nuclear: la gracia precede a nuestra percepción y a nuestra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es necesario leer los cuatro textos completos. Puede asignarse uno a cada pareja o subgrupo. Al volver, pedir que cada grupo formule en una frase qué revela su texto sobre la manera de actuar de Dios.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Clima: acogedor y sin prisas. En el discernimiento conviene pedir que cada uno hable en primera persona. Evitar convertir las piedras o los miedos de otros en objeto de análisis. El compromiso final debe ser pequeño, verificable y comunitario.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n 4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23950"/>
          </a:xfrm>
          <a:prstGeom prst="rect">
            <a:avLst/>
          </a:prstGeom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noGrp="1"/>
          </p:cNvSpPr>
          <p:nvPr/>
        </p:nvSpPr>
        <p:spPr>
          <a:xfrm>
            <a:off x="0" y="4457700"/>
            <a:ext cx="12192000" cy="2400300"/>
          </a:xfrm>
          <a:prstGeom prst="rect">
            <a:avLst/>
          </a:prstGeom>
          <a:ln w="0">
            <a:noFill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5715000" cy="4286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SIN HACER RUIDO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0">
                <a:solidFill>
                  <a:srgbClr val="F5E7C3"/>
                </a:solidFill>
              </a:defRPr>
            </a:pPr>
            <a:r>
              <a:rPr lang="es-ES" sz="1275" dirty="0">
                <a:solidFill>
                  <a:srgbClr val="F5E7C3"/>
                </a:solidFill>
              </a:rPr>
              <a:t>U</a:t>
            </a:r>
            <a:r>
              <a:rPr sz="1275" b="0" dirty="0">
                <a:solidFill>
                  <a:srgbClr val="F5E7C3"/>
                </a:solidFill>
              </a:rPr>
              <a:t>na gracia </a:t>
            </a:r>
            <a:r>
              <a:rPr sz="1275" b="0" dirty="0" err="1">
                <a:solidFill>
                  <a:srgbClr val="F5E7C3"/>
                </a:solidFill>
              </a:rPr>
              <a:t>que</a:t>
            </a:r>
            <a:r>
              <a:rPr sz="1275" b="0" dirty="0">
                <a:solidFill>
                  <a:srgbClr val="F5E7C3"/>
                </a:solidFill>
              </a:rPr>
              <a:t> </a:t>
            </a:r>
            <a:r>
              <a:rPr sz="1275" b="0" dirty="0" err="1">
                <a:solidFill>
                  <a:srgbClr val="F5E7C3"/>
                </a:solidFill>
              </a:rPr>
              <a:t>trabaja</a:t>
            </a:r>
            <a:r>
              <a:rPr sz="1275" b="0" dirty="0">
                <a:solidFill>
                  <a:srgbClr val="F5E7C3"/>
                </a:solidFill>
              </a:rPr>
              <a:t> antes de </a:t>
            </a:r>
            <a:r>
              <a:rPr sz="1275" b="0" dirty="0" err="1">
                <a:solidFill>
                  <a:srgbClr val="F5E7C3"/>
                </a:solidFill>
              </a:rPr>
              <a:t>hacerse</a:t>
            </a:r>
            <a:r>
              <a:rPr sz="1275" b="0" dirty="0">
                <a:solidFill>
                  <a:srgbClr val="F5E7C3"/>
                </a:solidFill>
              </a:rPr>
              <a:t> visible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noGrp="1"/>
          </p:cNvSpPr>
          <p:nvPr/>
        </p:nvSpPr>
        <p:spPr>
          <a:xfrm>
            <a:off x="3943350" y="1381125"/>
            <a:ext cx="4305300" cy="1581150"/>
          </a:xfrm>
          <a:prstGeom prst="roundRect">
            <a:avLst>
              <a:gd name="adj" fmla="val 7229"/>
            </a:avLst>
          </a:prstGeom>
          <a:ln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noGrp="1"/>
          </p:cNvSpPr>
          <p:nvPr/>
        </p:nvSpPr>
        <p:spPr>
          <a:xfrm>
            <a:off x="4514850" y="1552575"/>
            <a:ext cx="3162300" cy="742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DIOS YA ESTÁ OBRANDO</a:t>
            </a:r>
          </a:p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BAJO LA TIERRA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noGrp="1"/>
          </p:cNvSpPr>
          <p:nvPr/>
        </p:nvSpPr>
        <p:spPr>
          <a:xfrm>
            <a:off x="4305300" y="2200275"/>
            <a:ext cx="384810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52748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esperanza cristiana no niega el invierno:</a:t>
            </a:r>
          </a:p>
          <a:p>
            <a:pPr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52748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confía en una vida que todavía no se deja mirar.</a:t>
            </a:r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noGrp="1"/>
          </p:cNvSpPr>
          <p:nvPr/>
        </p:nvSpPr>
        <p:spPr>
          <a:xfrm flipV="1">
            <a:off x="676275" y="4600575"/>
            <a:ext cx="10753725" cy="47625"/>
          </a:xfrm>
          <a:prstGeom prst="line">
            <a:avLst/>
          </a:prstGeom>
          <a:noFill/>
          <a:ln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noGrp="1"/>
          </p:cNvSpPr>
          <p:nvPr/>
        </p:nvSpPr>
        <p:spPr>
          <a:xfrm>
            <a:off x="438150" y="4486275"/>
            <a:ext cx="228600" cy="22860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5E7C3"/>
            </a:solidFill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noGrp="1"/>
          </p:cNvSpPr>
          <p:nvPr/>
        </p:nvSpPr>
        <p:spPr>
          <a:xfrm>
            <a:off x="438150" y="4495800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noGrp="1"/>
          </p:cNvSpPr>
          <p:nvPr/>
        </p:nvSpPr>
        <p:spPr>
          <a:xfrm>
            <a:off x="428625" y="4686300"/>
            <a:ext cx="2124075" cy="2571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LÍMITE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noGrp="1"/>
          </p:cNvSpPr>
          <p:nvPr/>
        </p:nvSpPr>
        <p:spPr>
          <a:xfrm>
            <a:off x="428625" y="4981575"/>
            <a:ext cx="2124075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Derrotas, puertas cerradas,</a:t>
            </a:r>
          </a:p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piedras, invierno.</a:t>
            </a:r>
          </a:p>
        </p:txBody>
      </p:sp>
      <p:sp>
        <p:nvSpPr>
          <p:cNvPr id="14" name="Conector recto 13">
            <a:extLst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noGrp="1"/>
          </p:cNvSpPr>
          <p:nvPr/>
        </p:nvSpPr>
        <p:spPr>
          <a:xfrm>
            <a:off x="428625" y="5505450"/>
            <a:ext cx="2009775" cy="9525"/>
          </a:xfrm>
          <a:prstGeom prst="line">
            <a:avLst/>
          </a:prstGeom>
          <a:noFill/>
          <a:ln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noGrp="1"/>
          </p:cNvSpPr>
          <p:nvPr/>
        </p:nvSpPr>
        <p:spPr>
          <a:xfrm>
            <a:off x="428625" y="5572125"/>
            <a:ext cx="2124075" cy="5334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mirada humana confunde</a:t>
            </a:r>
          </a:p>
          <a:p>
            <a:pPr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lo invisible con lo inexistente.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noGrp="1"/>
          </p:cNvSpPr>
          <p:nvPr/>
        </p:nvSpPr>
        <p:spPr>
          <a:xfrm>
            <a:off x="2733675" y="4486275"/>
            <a:ext cx="228600" cy="22860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5E7C3"/>
            </a:solidFill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noGrp="1"/>
          </p:cNvSpPr>
          <p:nvPr/>
        </p:nvSpPr>
        <p:spPr>
          <a:xfrm>
            <a:off x="2733675" y="4495800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noGrp="1"/>
          </p:cNvSpPr>
          <p:nvPr/>
        </p:nvSpPr>
        <p:spPr>
          <a:xfrm>
            <a:off x="2724150" y="4686300"/>
            <a:ext cx="2124075" cy="2571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INICIATIVA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noGrp="1"/>
          </p:cNvSpPr>
          <p:nvPr/>
        </p:nvSpPr>
        <p:spPr>
          <a:xfrm>
            <a:off x="2724150" y="4981575"/>
            <a:ext cx="2124075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Dios siembra, llama,</a:t>
            </a:r>
          </a:p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riega la tierra, habla.</a:t>
            </a:r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noGrp="1"/>
          </p:cNvSpPr>
          <p:nvPr/>
        </p:nvSpPr>
        <p:spPr>
          <a:xfrm>
            <a:off x="2724150" y="5505450"/>
            <a:ext cx="2009775" cy="9525"/>
          </a:xfrm>
          <a:prstGeom prst="line">
            <a:avLst/>
          </a:prstGeom>
          <a:noFill/>
          <a:ln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noGrp="1"/>
          </p:cNvSpPr>
          <p:nvPr/>
        </p:nvSpPr>
        <p:spPr>
          <a:xfrm>
            <a:off x="2724150" y="5572125"/>
            <a:ext cx="2124075" cy="5334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gracia comienza antes</a:t>
            </a:r>
          </a:p>
          <a:p>
            <a:pPr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de nuestra respuesta.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noGrp="1"/>
          </p:cNvSpPr>
          <p:nvPr/>
        </p:nvSpPr>
        <p:spPr>
          <a:xfrm>
            <a:off x="5029200" y="4486275"/>
            <a:ext cx="228600" cy="22860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5E7C3"/>
            </a:solidFill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noGrp="1"/>
          </p:cNvSpPr>
          <p:nvPr/>
        </p:nvSpPr>
        <p:spPr>
          <a:xfrm>
            <a:off x="5029200" y="4495800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noGrp="1"/>
          </p:cNvSpPr>
          <p:nvPr/>
        </p:nvSpPr>
        <p:spPr>
          <a:xfrm>
            <a:off x="5019675" y="4686300"/>
            <a:ext cx="2124075" cy="2571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SILENCIO FECUNDO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noGrp="1"/>
          </p:cNvSpPr>
          <p:nvPr/>
        </p:nvSpPr>
        <p:spPr>
          <a:xfrm>
            <a:off x="5019675" y="4981575"/>
            <a:ext cx="2124075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semilla trabaja</a:t>
            </a:r>
          </a:p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sin espectáculo.</a:t>
            </a:r>
          </a:p>
        </p:txBody>
      </p:sp>
      <p:sp>
        <p:nvSpPr>
          <p:cNvPr id="26" name="Conector recto 25">
            <a:extLst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noGrp="1"/>
          </p:cNvSpPr>
          <p:nvPr/>
        </p:nvSpPr>
        <p:spPr>
          <a:xfrm>
            <a:off x="5019675" y="5505450"/>
            <a:ext cx="2009775" cy="9525"/>
          </a:xfrm>
          <a:prstGeom prst="line">
            <a:avLst/>
          </a:prstGeom>
          <a:noFill/>
          <a:ln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noGrp="1"/>
          </p:cNvSpPr>
          <p:nvPr/>
        </p:nvSpPr>
        <p:spPr>
          <a:xfrm>
            <a:off x="5019675" y="5572125"/>
            <a:ext cx="2124075" cy="5334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Creer es confiar en procesos</a:t>
            </a:r>
          </a:p>
          <a:p>
            <a:pPr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que aún no controlamos.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noGrp="1"/>
          </p:cNvSpPr>
          <p:nvPr/>
        </p:nvSpPr>
        <p:spPr>
          <a:xfrm>
            <a:off x="7324725" y="4486275"/>
            <a:ext cx="228600" cy="22860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5E7C3"/>
            </a:solidFill>
          </a:ln>
        </p:spPr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noGrp="1"/>
          </p:cNvSpPr>
          <p:nvPr/>
        </p:nvSpPr>
        <p:spPr>
          <a:xfrm>
            <a:off x="7324725" y="4495800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noGrp="1"/>
          </p:cNvSpPr>
          <p:nvPr/>
        </p:nvSpPr>
        <p:spPr>
          <a:xfrm>
            <a:off x="7315200" y="4686300"/>
            <a:ext cx="2124075" cy="2571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CONVERSIÓN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noGrp="1"/>
          </p:cNvSpPr>
          <p:nvPr/>
        </p:nvSpPr>
        <p:spPr>
          <a:xfrm>
            <a:off x="7315200" y="4981575"/>
            <a:ext cx="2124075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Quitar piedras, romper</a:t>
            </a:r>
          </a:p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miedo, acallar el ruido.</a:t>
            </a:r>
          </a:p>
        </p:txBody>
      </p:sp>
      <p:sp>
        <p:nvSpPr>
          <p:cNvPr id="32" name="Conector recto 31">
            <a:extLst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noGrp="1"/>
          </p:cNvSpPr>
          <p:nvPr/>
        </p:nvSpPr>
        <p:spPr>
          <a:xfrm>
            <a:off x="7315200" y="5505450"/>
            <a:ext cx="2009775" cy="9525"/>
          </a:xfrm>
          <a:prstGeom prst="line">
            <a:avLst/>
          </a:prstGeom>
          <a:noFill/>
          <a:ln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noGrp="1"/>
          </p:cNvSpPr>
          <p:nvPr/>
        </p:nvSpPr>
        <p:spPr>
          <a:xfrm>
            <a:off x="7315200" y="5572125"/>
            <a:ext cx="2124075" cy="5334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Convertirse es hacerse</a:t>
            </a:r>
          </a:p>
          <a:p>
            <a:pPr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tierra disponible.</a:t>
            </a: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noGrp="1"/>
          </p:cNvSpPr>
          <p:nvPr/>
        </p:nvSpPr>
        <p:spPr>
          <a:xfrm>
            <a:off x="9620250" y="4486275"/>
            <a:ext cx="228600" cy="22860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5E7C3"/>
            </a:solidFill>
          </a:ln>
        </p:spPr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noGrp="1"/>
          </p:cNvSpPr>
          <p:nvPr/>
        </p:nvSpPr>
        <p:spPr>
          <a:xfrm>
            <a:off x="9620250" y="4495800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noGrp="1"/>
          </p:cNvSpPr>
          <p:nvPr/>
        </p:nvSpPr>
        <p:spPr>
          <a:xfrm>
            <a:off x="9610725" y="4686300"/>
            <a:ext cx="2124075" cy="2571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FRUTO COMÚN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noGrp="1"/>
          </p:cNvSpPr>
          <p:nvPr/>
        </p:nvSpPr>
        <p:spPr>
          <a:xfrm>
            <a:off x="9610725" y="4981575"/>
            <a:ext cx="2124075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Palabra encuentra sitio</a:t>
            </a:r>
          </a:p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y todo empieza a florecer.</a:t>
            </a:r>
          </a:p>
        </p:txBody>
      </p:sp>
      <p:sp>
        <p:nvSpPr>
          <p:cNvPr id="38" name="Conector recto 37">
            <a:extLst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noGrp="1"/>
          </p:cNvSpPr>
          <p:nvPr/>
        </p:nvSpPr>
        <p:spPr>
          <a:xfrm>
            <a:off x="9610725" y="5505450"/>
            <a:ext cx="2009775" cy="9525"/>
          </a:xfrm>
          <a:prstGeom prst="line">
            <a:avLst/>
          </a:prstGeom>
          <a:noFill/>
          <a:ln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noGrp="1"/>
          </p:cNvSpPr>
          <p:nvPr/>
        </p:nvSpPr>
        <p:spPr>
          <a:xfrm>
            <a:off x="9610725" y="5572125"/>
            <a:ext cx="2124075" cy="5334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don recibido se vuelve</a:t>
            </a:r>
          </a:p>
          <a:p>
            <a:pPr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misión y comunidad.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noGrp="1"/>
          </p:cNvSpPr>
          <p:nvPr/>
        </p:nvSpPr>
        <p:spPr>
          <a:xfrm>
            <a:off x="7239000" y="409575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«Lo que cambia el mundo casi nunca hace ruido»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noGrp="1"/>
          </p:cNvSpPr>
          <p:nvPr/>
        </p:nvSpPr>
        <p:spPr>
          <a:xfrm>
            <a:off x="11334750" y="6429375"/>
            <a:ext cx="40005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39">
            <a:extLst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La canción condensa una misma intuición bíblica desde cuatro ángulos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9525"/>
          </a:xfrm>
          <a:prstGeom prst="line">
            <a:avLst/>
          </a:prstGeom>
          <a:noFill/>
          <a:ln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2533650" cy="3905250"/>
          </a:xfrm>
          <a:prstGeom prst="roundRect">
            <a:avLst>
              <a:gd name="adj" fmla="val 4511"/>
            </a:avLst>
          </a:prstGeom>
          <a:solidFill>
            <a:srgbClr val="0D2A38"/>
          </a:solidFill>
          <a:ln w="9525">
            <a:solidFill>
              <a:srgbClr val="D8C48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noGrp="1"/>
          </p:cNvSpPr>
          <p:nvPr/>
        </p:nvSpPr>
        <p:spPr>
          <a:xfrm>
            <a:off x="1219200" y="1562100"/>
            <a:ext cx="16192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Mc 4,26–29</a:t>
            </a:r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noGrp="1"/>
          </p:cNvSpPr>
          <p:nvPr/>
        </p:nvSpPr>
        <p:spPr>
          <a:xfrm>
            <a:off x="723900" y="1971675"/>
            <a:ext cx="2152650" cy="9525"/>
          </a:xfrm>
          <a:prstGeom prst="line">
            <a:avLst/>
          </a:prstGeom>
          <a:noFill/>
          <a:ln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21526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EL CRECIMIENTO OCULTO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noGrp="1"/>
          </p:cNvSpPr>
          <p:nvPr/>
        </p:nvSpPr>
        <p:spPr>
          <a:xfrm>
            <a:off x="723900" y="2771775"/>
            <a:ext cx="2152650" cy="952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«La semilla germina y va creciendo, sin que él sepa cómo.»</a:t>
            </a:r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noGrp="1"/>
          </p:cNvSpPr>
          <p:nvPr/>
        </p:nvSpPr>
        <p:spPr>
          <a:xfrm>
            <a:off x="723900" y="3857625"/>
            <a:ext cx="571500" cy="9525"/>
          </a:xfrm>
          <a:prstGeom prst="line">
            <a:avLst/>
          </a:prstGeom>
          <a:noFill/>
          <a:ln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noGrp="1"/>
          </p:cNvSpPr>
          <p:nvPr/>
        </p:nvSpPr>
        <p:spPr>
          <a:xfrm>
            <a:off x="723900" y="4057650"/>
            <a:ext cx="2152650" cy="1000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Dios actúa también cuando no percibimos resultados. La fe sabe esperar sin abandonar el cuidado.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noGrp="1"/>
          </p:cNvSpPr>
          <p:nvPr/>
        </p:nvSpPr>
        <p:spPr>
          <a:xfrm>
            <a:off x="3333750" y="1381125"/>
            <a:ext cx="2533650" cy="3905250"/>
          </a:xfrm>
          <a:prstGeom prst="roundRect">
            <a:avLst>
              <a:gd name="adj" fmla="val 4511"/>
            </a:avLst>
          </a:prstGeom>
          <a:solidFill>
            <a:srgbClr val="496B4A"/>
          </a:solidFill>
          <a:ln w="9525">
            <a:solidFill>
              <a:srgbClr val="D8C48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noGrp="1"/>
          </p:cNvSpPr>
          <p:nvPr/>
        </p:nvSpPr>
        <p:spPr>
          <a:xfrm>
            <a:off x="3524250" y="158115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noGrp="1"/>
          </p:cNvSpPr>
          <p:nvPr/>
        </p:nvSpPr>
        <p:spPr>
          <a:xfrm>
            <a:off x="4019550" y="1562100"/>
            <a:ext cx="16192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Is 55,10–11</a:t>
            </a:r>
          </a:p>
        </p:txBody>
      </p:sp>
      <p:sp>
        <p:nvSpPr>
          <p:cNvPr id="15" name="Conector recto 14">
            <a:extLst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noGrp="1"/>
          </p:cNvSpPr>
          <p:nvPr/>
        </p:nvSpPr>
        <p:spPr>
          <a:xfrm>
            <a:off x="3524250" y="1971675"/>
            <a:ext cx="2152650" cy="9525"/>
          </a:xfrm>
          <a:prstGeom prst="line">
            <a:avLst/>
          </a:prstGeom>
          <a:noFill/>
          <a:ln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noGrp="1"/>
          </p:cNvSpPr>
          <p:nvPr/>
        </p:nvSpPr>
        <p:spPr>
          <a:xfrm>
            <a:off x="3524250" y="2133600"/>
            <a:ext cx="21526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 PALABRA EFICAZ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noGrp="1"/>
          </p:cNvSpPr>
          <p:nvPr/>
        </p:nvSpPr>
        <p:spPr>
          <a:xfrm>
            <a:off x="3524250" y="2771775"/>
            <a:ext cx="2152650" cy="952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«No volverá a mí vacía, sino que cumplirá mi deseo.»</a:t>
            </a:r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noGrp="1"/>
          </p:cNvSpPr>
          <p:nvPr/>
        </p:nvSpPr>
        <p:spPr>
          <a:xfrm>
            <a:off x="3524250" y="3857625"/>
            <a:ext cx="571500" cy="9525"/>
          </a:xfrm>
          <a:prstGeom prst="line">
            <a:avLst/>
          </a:prstGeom>
          <a:noFill/>
          <a:ln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noGrp="1"/>
          </p:cNvSpPr>
          <p:nvPr/>
        </p:nvSpPr>
        <p:spPr>
          <a:xfrm>
            <a:off x="3524250" y="4057650"/>
            <a:ext cx="2152650" cy="1000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Palabra no es información: es acontecimiento que riega, fecunda y pone en marcha vida nueva.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noGrp="1"/>
          </p:cNvSpPr>
          <p:nvPr/>
        </p:nvSpPr>
        <p:spPr>
          <a:xfrm>
            <a:off x="6134100" y="1381125"/>
            <a:ext cx="2533650" cy="3905250"/>
          </a:xfrm>
          <a:prstGeom prst="roundRect">
            <a:avLst>
              <a:gd name="adj" fmla="val 4511"/>
            </a:avLst>
          </a:prstGeom>
          <a:solidFill>
            <a:srgbClr val="865B45"/>
          </a:solidFill>
          <a:ln w="9525">
            <a:solidFill>
              <a:srgbClr val="D8C48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noGrp="1"/>
          </p:cNvSpPr>
          <p:nvPr/>
        </p:nvSpPr>
        <p:spPr>
          <a:xfrm>
            <a:off x="6324600" y="158115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noGrp="1"/>
          </p:cNvSpPr>
          <p:nvPr/>
        </p:nvSpPr>
        <p:spPr>
          <a:xfrm>
            <a:off x="6819900" y="1562100"/>
            <a:ext cx="16192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1 Co 3,6–7</a:t>
            </a:r>
          </a:p>
        </p:txBody>
      </p:sp>
      <p:sp>
        <p:nvSpPr>
          <p:cNvPr id="23" name="Conector recto 22">
            <a:extLst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noGrp="1"/>
          </p:cNvSpPr>
          <p:nvPr/>
        </p:nvSpPr>
        <p:spPr>
          <a:xfrm>
            <a:off x="6324600" y="1971675"/>
            <a:ext cx="2152650" cy="9525"/>
          </a:xfrm>
          <a:prstGeom prst="line">
            <a:avLst/>
          </a:prstGeom>
          <a:noFill/>
          <a:ln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noGrp="1"/>
          </p:cNvSpPr>
          <p:nvPr/>
        </p:nvSpPr>
        <p:spPr>
          <a:xfrm>
            <a:off x="6324600" y="2133600"/>
            <a:ext cx="21526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DIOS DA EL CRECIMIENTO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noGrp="1"/>
          </p:cNvSpPr>
          <p:nvPr/>
        </p:nvSpPr>
        <p:spPr>
          <a:xfrm>
            <a:off x="6324600" y="2771775"/>
            <a:ext cx="2152650" cy="952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«Yo planté, Apolo regó, pero fue Dios quien hizo crecer.»</a:t>
            </a:r>
          </a:p>
        </p:txBody>
      </p:sp>
      <p:sp>
        <p:nvSpPr>
          <p:cNvPr id="26" name="Conector recto 25">
            <a:extLst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noGrp="1"/>
          </p:cNvSpPr>
          <p:nvPr/>
        </p:nvSpPr>
        <p:spPr>
          <a:xfrm>
            <a:off x="6324600" y="3857625"/>
            <a:ext cx="571500" cy="9525"/>
          </a:xfrm>
          <a:prstGeom prst="line">
            <a:avLst/>
          </a:prstGeom>
          <a:noFill/>
          <a:ln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noGrp="1"/>
          </p:cNvSpPr>
          <p:nvPr/>
        </p:nvSpPr>
        <p:spPr>
          <a:xfrm>
            <a:off x="6324600" y="4057650"/>
            <a:ext cx="2152650" cy="1000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Colaboramos sin apropiarnos del fruto. La comunidad siembra y riega; el crecimiento sigue siendo don.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noGrp="1"/>
          </p:cNvSpPr>
          <p:nvPr/>
        </p:nvSpPr>
        <p:spPr>
          <a:xfrm>
            <a:off x="8934450" y="1381125"/>
            <a:ext cx="2533650" cy="3905250"/>
          </a:xfrm>
          <a:prstGeom prst="roundRect">
            <a:avLst>
              <a:gd name="adj" fmla="val 4511"/>
            </a:avLst>
          </a:prstGeom>
          <a:solidFill>
            <a:srgbClr val="5A5135"/>
          </a:solidFill>
          <a:ln w="9525">
            <a:solidFill>
              <a:srgbClr val="D8C48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noGrp="1"/>
          </p:cNvSpPr>
          <p:nvPr/>
        </p:nvSpPr>
        <p:spPr>
          <a:xfrm>
            <a:off x="9124950" y="158115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noGrp="1"/>
          </p:cNvSpPr>
          <p:nvPr/>
        </p:nvSpPr>
        <p:spPr>
          <a:xfrm>
            <a:off x="9620250" y="1562100"/>
            <a:ext cx="16192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Jn 12,24</a:t>
            </a:r>
          </a:p>
        </p:txBody>
      </p:sp>
      <p:sp>
        <p:nvSpPr>
          <p:cNvPr id="31" name="Conector recto 30">
            <a:extLst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noGrp="1"/>
          </p:cNvSpPr>
          <p:nvPr/>
        </p:nvSpPr>
        <p:spPr>
          <a:xfrm>
            <a:off x="9124950" y="1971675"/>
            <a:ext cx="2152650" cy="9525"/>
          </a:xfrm>
          <a:prstGeom prst="line">
            <a:avLst/>
          </a:prstGeom>
          <a:noFill/>
          <a:ln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noGrp="1"/>
          </p:cNvSpPr>
          <p:nvPr/>
        </p:nvSpPr>
        <p:spPr>
          <a:xfrm>
            <a:off x="9124950" y="2133600"/>
            <a:ext cx="21526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 FECUNDIDAD PASCUAL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noGrp="1"/>
          </p:cNvSpPr>
          <p:nvPr/>
        </p:nvSpPr>
        <p:spPr>
          <a:xfrm>
            <a:off x="9124950" y="2771775"/>
            <a:ext cx="2152650" cy="952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«Si el grano de trigo cae en tierra y muere, da mucho fruto.»</a:t>
            </a:r>
          </a:p>
        </p:txBody>
      </p:sp>
      <p:sp>
        <p:nvSpPr>
          <p:cNvPr id="34" name="Conector recto 33">
            <a:extLst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noGrp="1"/>
          </p:cNvSpPr>
          <p:nvPr/>
        </p:nvSpPr>
        <p:spPr>
          <a:xfrm>
            <a:off x="9124950" y="3857625"/>
            <a:ext cx="571500" cy="9525"/>
          </a:xfrm>
          <a:prstGeom prst="line">
            <a:avLst/>
          </a:prstGeom>
          <a:noFill/>
          <a:ln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noGrp="1"/>
          </p:cNvSpPr>
          <p:nvPr/>
        </p:nvSpPr>
        <p:spPr>
          <a:xfrm>
            <a:off x="9124950" y="4057650"/>
            <a:ext cx="2152650" cy="1000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Lo pequeño transforma cuando acepta entregarse. La fecundidad cristiana pasa por la donación de sí.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noGrp="1"/>
          </p:cNvSpPr>
          <p:nvPr/>
        </p:nvSpPr>
        <p:spPr>
          <a:xfrm>
            <a:off x="533400" y="5581650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noGrp="1"/>
          </p:cNvSpPr>
          <p:nvPr/>
        </p:nvSpPr>
        <p:spPr>
          <a:xfrm>
            <a:off x="1676400" y="5495925"/>
            <a:ext cx="998220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Primacía de la gracia  ·  paciencia de la fe  ·  conversión como disponibilidad  ·  comunidad como campo de Dios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noGrp="1"/>
          </p:cNvSpPr>
          <p:nvPr/>
        </p:nvSpPr>
        <p:spPr>
          <a:xfrm>
            <a:off x="533400" y="60769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cambia en nosotros si dejamos de exigir ver para empezar a confiar?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noGrp="1"/>
          </p:cNvSpPr>
          <p:nvPr/>
        </p:nvSpPr>
        <p:spPr>
          <a:xfrm>
            <a:off x="11334750" y="6429375"/>
            <a:ext cx="40005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ángulo 42">
            <a:extLst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87630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Del ruido interior a una semilla concreta que el grupo pueda cuidar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9525"/>
          </a:xfrm>
          <a:prstGeom prst="line">
            <a:avLst/>
          </a:prstGeom>
          <a:noFill/>
          <a:ln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noGrp="1"/>
          </p:cNvSpPr>
          <p:nvPr/>
        </p:nvSpPr>
        <p:spPr>
          <a:xfrm>
            <a:off x="1257300" y="1619250"/>
            <a:ext cx="9525" cy="4000500"/>
          </a:xfrm>
          <a:prstGeom prst="line">
            <a:avLst/>
          </a:prstGeom>
          <a:noFill/>
          <a:ln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noGrp="1"/>
          </p:cNvSpPr>
          <p:nvPr/>
        </p:nvSpPr>
        <p:spPr>
          <a:xfrm>
            <a:off x="1085850" y="1447800"/>
            <a:ext cx="361950" cy="36195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5E7C3"/>
            </a:solidFill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noGrp="1"/>
          </p:cNvSpPr>
          <p:nvPr/>
        </p:nvSpPr>
        <p:spPr>
          <a:xfrm>
            <a:off x="1085850" y="1466850"/>
            <a:ext cx="3619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noGrp="1"/>
          </p:cNvSpPr>
          <p:nvPr/>
        </p:nvSpPr>
        <p:spPr>
          <a:xfrm>
            <a:off x="533400" y="146685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00–08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noGrp="1"/>
          </p:cNvSpPr>
          <p:nvPr/>
        </p:nvSpPr>
        <p:spPr>
          <a:xfrm>
            <a:off x="1752600" y="135255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noGrp="1"/>
          </p:cNvSpPr>
          <p:nvPr/>
        </p:nvSpPr>
        <p:spPr>
          <a:xfrm>
            <a:off x="1752600" y="1647825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la canción completa sin entregar todavía explicaciones.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noGrp="1"/>
          </p:cNvSpPr>
          <p:nvPr/>
        </p:nvSpPr>
        <p:spPr>
          <a:xfrm>
            <a:off x="6524625" y="1352550"/>
            <a:ext cx="4953000" cy="666750"/>
          </a:xfrm>
          <a:prstGeom prst="roundRect">
            <a:avLst>
              <a:gd name="adj" fmla="val 17143"/>
            </a:avLst>
          </a:prstGeom>
          <a:ln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noGrp="1"/>
          </p:cNvSpPr>
          <p:nvPr/>
        </p:nvSpPr>
        <p:spPr>
          <a:xfrm>
            <a:off x="6743700" y="1447800"/>
            <a:ext cx="4514850" cy="476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palabra o imagen se me ha quedado dentro?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noGrp="1"/>
          </p:cNvSpPr>
          <p:nvPr/>
        </p:nvSpPr>
        <p:spPr>
          <a:xfrm>
            <a:off x="1085850" y="2362200"/>
            <a:ext cx="361950" cy="36195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5E7C3"/>
            </a:solidFill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noGrp="1"/>
          </p:cNvSpPr>
          <p:nvPr/>
        </p:nvSpPr>
        <p:spPr>
          <a:xfrm>
            <a:off x="1085850" y="2381250"/>
            <a:ext cx="3619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noGrp="1"/>
          </p:cNvSpPr>
          <p:nvPr/>
        </p:nvSpPr>
        <p:spPr>
          <a:xfrm>
            <a:off x="533400" y="238125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08–20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noGrp="1"/>
          </p:cNvSpPr>
          <p:nvPr/>
        </p:nvSpPr>
        <p:spPr>
          <a:xfrm>
            <a:off x="1752600" y="226695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MIRAR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noGrp="1"/>
          </p:cNvSpPr>
          <p:nvPr/>
        </p:nvSpPr>
        <p:spPr>
          <a:xfrm>
            <a:off x="1752600" y="2562225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Contemplar el mapa teológico en silencio y después nombrar resonancias.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noGrp="1"/>
          </p:cNvSpPr>
          <p:nvPr/>
        </p:nvSpPr>
        <p:spPr>
          <a:xfrm>
            <a:off x="6524625" y="2266950"/>
            <a:ext cx="4953000" cy="666750"/>
          </a:xfrm>
          <a:prstGeom prst="roundRect">
            <a:avLst>
              <a:gd name="adj" fmla="val 17143"/>
            </a:avLst>
          </a:prstGeom>
          <a:ln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noGrp="1"/>
          </p:cNvSpPr>
          <p:nvPr/>
        </p:nvSpPr>
        <p:spPr>
          <a:xfrm>
            <a:off x="6743700" y="2362200"/>
            <a:ext cx="4514850" cy="476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¿Dónde estoy viendo solo piedras o invierno?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noGrp="1"/>
          </p:cNvSpPr>
          <p:nvPr/>
        </p:nvSpPr>
        <p:spPr>
          <a:xfrm>
            <a:off x="1085850" y="3276600"/>
            <a:ext cx="361950" cy="36195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5E7C3"/>
            </a:solidFill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noGrp="1"/>
          </p:cNvSpPr>
          <p:nvPr/>
        </p:nvSpPr>
        <p:spPr>
          <a:xfrm>
            <a:off x="1085850" y="3295650"/>
            <a:ext cx="3619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noGrp="1"/>
          </p:cNvSpPr>
          <p:nvPr/>
        </p:nvSpPr>
        <p:spPr>
          <a:xfrm>
            <a:off x="533400" y="329565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20–38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noGrp="1"/>
          </p:cNvSpPr>
          <p:nvPr/>
        </p:nvSpPr>
        <p:spPr>
          <a:xfrm>
            <a:off x="1752600" y="318135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noGrp="1"/>
          </p:cNvSpPr>
          <p:nvPr/>
        </p:nvSpPr>
        <p:spPr>
          <a:xfrm>
            <a:off x="1752600" y="3476625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Mc 4,26–29 y repartir las otras tres referencias en pequeños grupos.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noGrp="1"/>
          </p:cNvSpPr>
          <p:nvPr/>
        </p:nvSpPr>
        <p:spPr>
          <a:xfrm>
            <a:off x="6524625" y="3181350"/>
            <a:ext cx="4953000" cy="666750"/>
          </a:xfrm>
          <a:prstGeom prst="roundRect">
            <a:avLst>
              <a:gd name="adj" fmla="val 17143"/>
            </a:avLst>
          </a:prstGeom>
          <a:ln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noGrp="1"/>
          </p:cNvSpPr>
          <p:nvPr/>
        </p:nvSpPr>
        <p:spPr>
          <a:xfrm>
            <a:off x="6743700" y="3276600"/>
            <a:ext cx="4514850" cy="476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revela el texto sobre la forma de actuar de Dios?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noGrp="1"/>
          </p:cNvSpPr>
          <p:nvPr/>
        </p:nvSpPr>
        <p:spPr>
          <a:xfrm>
            <a:off x="1085850" y="4191000"/>
            <a:ext cx="361950" cy="36195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5E7C3"/>
            </a:solidFill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noGrp="1"/>
          </p:cNvSpPr>
          <p:nvPr/>
        </p:nvSpPr>
        <p:spPr>
          <a:xfrm>
            <a:off x="1085850" y="4210050"/>
            <a:ext cx="3619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noGrp="1"/>
          </p:cNvSpPr>
          <p:nvPr/>
        </p:nvSpPr>
        <p:spPr>
          <a:xfrm>
            <a:off x="533400" y="421005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38–58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noGrp="1"/>
          </p:cNvSpPr>
          <p:nvPr/>
        </p:nvSpPr>
        <p:spPr>
          <a:xfrm>
            <a:off x="1752600" y="409575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noGrp="1"/>
          </p:cNvSpPr>
          <p:nvPr/>
        </p:nvSpPr>
        <p:spPr>
          <a:xfrm>
            <a:off x="1752600" y="4391025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Compartir desde la propia vida, sin aconsejar ni responder por otros.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noGrp="1"/>
          </p:cNvSpPr>
          <p:nvPr/>
        </p:nvSpPr>
        <p:spPr>
          <a:xfrm>
            <a:off x="6524625" y="4095750"/>
            <a:ext cx="4953000" cy="666750"/>
          </a:xfrm>
          <a:prstGeom prst="roundRect">
            <a:avLst>
              <a:gd name="adj" fmla="val 17143"/>
            </a:avLst>
          </a:prstGeom>
          <a:ln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noGrp="1"/>
          </p:cNvSpPr>
          <p:nvPr/>
        </p:nvSpPr>
        <p:spPr>
          <a:xfrm>
            <a:off x="6743700" y="4191000"/>
            <a:ext cx="4514850" cy="476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ruido, miedo o resistencia no deja sitio a la semilla?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noGrp="1"/>
          </p:cNvSpPr>
          <p:nvPr/>
        </p:nvSpPr>
        <p:spPr>
          <a:xfrm>
            <a:off x="1085850" y="5105400"/>
            <a:ext cx="361950" cy="361950"/>
          </a:xfrm>
          <a:prstGeom prst="ellipse">
            <a:avLst/>
          </a:prstGeom>
          <a:solidFill>
            <a:srgbClr val="496B4A"/>
          </a:solidFill>
          <a:ln w="9525">
            <a:solidFill>
              <a:srgbClr val="F5E7C3"/>
            </a:solidFill>
          </a:ln>
        </p:spPr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noGrp="1"/>
          </p:cNvSpPr>
          <p:nvPr/>
        </p:nvSpPr>
        <p:spPr>
          <a:xfrm>
            <a:off x="1085850" y="5124450"/>
            <a:ext cx="3619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noGrp="1"/>
          </p:cNvSpPr>
          <p:nvPr/>
        </p:nvSpPr>
        <p:spPr>
          <a:xfrm>
            <a:off x="533400" y="512445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58–70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noGrp="1"/>
          </p:cNvSpPr>
          <p:nvPr/>
        </p:nvSpPr>
        <p:spPr>
          <a:xfrm>
            <a:off x="1752600" y="501015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CULTIVAR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noGrp="1"/>
          </p:cNvSpPr>
          <p:nvPr/>
        </p:nvSpPr>
        <p:spPr>
          <a:xfrm>
            <a:off x="1752600" y="5305425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 gesto pequeño, concreto y comunitario. Terminar con oración.</a:t>
            </a: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noGrp="1"/>
          </p:cNvSpPr>
          <p:nvPr/>
        </p:nvSpPr>
        <p:spPr>
          <a:xfrm>
            <a:off x="6524625" y="5010150"/>
            <a:ext cx="4953000" cy="666750"/>
          </a:xfrm>
          <a:prstGeom prst="roundRect">
            <a:avLst>
              <a:gd name="adj" fmla="val 17143"/>
            </a:avLst>
          </a:prstGeom>
          <a:ln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noGrp="1"/>
          </p:cNvSpPr>
          <p:nvPr/>
        </p:nvSpPr>
        <p:spPr>
          <a:xfrm>
            <a:off x="6743700" y="5105400"/>
            <a:ext cx="4514850" cy="476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semilla cuidaremos juntos durante esta semana?</a:t>
            </a: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noGrp="1"/>
          </p:cNvSpPr>
          <p:nvPr/>
        </p:nvSpPr>
        <p:spPr>
          <a:xfrm>
            <a:off x="1752600" y="6048375"/>
            <a:ext cx="9725025" cy="447675"/>
          </a:xfrm>
          <a:prstGeom prst="roundRect">
            <a:avLst>
              <a:gd name="adj" fmla="val 25532"/>
            </a:avLst>
          </a:prstGeom>
          <a:ln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noGrp="1"/>
          </p:cNvSpPr>
          <p:nvPr/>
        </p:nvSpPr>
        <p:spPr>
          <a:xfrm>
            <a:off x="1943100" y="6124575"/>
            <a:ext cx="9344025" cy="2952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no buscar una gran conclusión; reconocer y cuidar el pequeño comienzo que Dios ya ha puesto en marcha.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noGrp="1"/>
          </p:cNvSpPr>
          <p:nvPr/>
        </p:nvSpPr>
        <p:spPr>
          <a:xfrm>
            <a:off x="11334750" y="6429375"/>
            <a:ext cx="40005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DocSecurity>0</DocSecurity>
  <PresentationFormat>Panorámica</PresentationFormat>
  <Slides>3</Slides>
  <Notes>3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4" baseType="lpstr">
      <vt:lpstr>ChatGPT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Jesús Subías Domingo</cp:lastModifiedBy>
  <cp:revision>1</cp:revision>
  <dcterms:created xsi:type="dcterms:W3CDTF">2026-07-11T18:24:42Z</dcterms:created>
  <dcterms:modified xsi:type="dcterms:W3CDTF">2026-07-11T18:37:40Z</dcterms:modified>
</cp:coreProperties>
</file>