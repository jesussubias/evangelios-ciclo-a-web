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e5840d6d204b10" /><Relationship Type="http://schemas.openxmlformats.org/officeDocument/2006/relationships/extended-properties" Target="/docProps/app.xml" Id="Rc88f79ab038743f5" /><Relationship Type="http://schemas.openxmlformats.org/officeDocument/2006/relationships/officeDocument" Target="/ppt/presentation.xml" Id="R504e28ca35504c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219f6fe57c4325"/>
  </p:sldMasterIdLst>
  <p:notesMasterIdLst>
    <p:notesMasterId xmlns:r="http://schemas.openxmlformats.org/officeDocument/2006/relationships" r:id="Rdf171a9bc28c4fdc"/>
  </p:notesMasterIdLst>
  <p:sldIdLst>
    <p:sldId xmlns:r="http://schemas.openxmlformats.org/officeDocument/2006/relationships" id="256" r:id="R2399322f41c54b8c"/>
    <p:sldId xmlns:r="http://schemas.openxmlformats.org/officeDocument/2006/relationships" id="257" r:id="R702e0a2ca6e64713"/>
    <p:sldId xmlns:r="http://schemas.openxmlformats.org/officeDocument/2006/relationships" id="258" r:id="R1054f7715326471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f4dee30fa345d3" /><Relationship Type="http://schemas.openxmlformats.org/officeDocument/2006/relationships/slideMaster" Target="/ppt/slideMasters/slideMaster1.xml" Id="R32219f6fe57c4325" /><Relationship Type="http://schemas.openxmlformats.org/officeDocument/2006/relationships/notesMaster" Target="/ppt/notesMasters/notesMaster1.xml" Id="Rdf171a9bc28c4fdc" /><Relationship Type="http://schemas.openxmlformats.org/officeDocument/2006/relationships/presProps" Target="/ppt/presProps.xml" Id="R215b7811896b4208" /><Relationship Type="http://schemas.openxmlformats.org/officeDocument/2006/relationships/viewProps" Target="/ppt/viewProps.xml" Id="R3b1d24f8e9e24686" /><Relationship Type="http://schemas.openxmlformats.org/officeDocument/2006/relationships/tableStyles" Target="/ppt/tableStyles.xml" Id="Ra536c2e98f804ec1" /><Relationship Type="http://schemas.openxmlformats.org/officeDocument/2006/relationships/slide" Target="/ppt/slides/slide1.xml" Id="R2399322f41c54b8c" /><Relationship Type="http://schemas.openxmlformats.org/officeDocument/2006/relationships/slide" Target="/ppt/slides/slide2.xml" Id="R702e0a2ca6e64713" /><Relationship Type="http://schemas.openxmlformats.org/officeDocument/2006/relationships/slide" Target="/ppt/slides/slide3.xml" Id="R1054f771532647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da82624ec441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be9e6c49b04864" /><Relationship Type="http://schemas.openxmlformats.org/officeDocument/2006/relationships/notesMaster" Target="/ppt/notesMasters/notesMaster1.xml" Id="R3f44d5b8f0e745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1740c802ad4ae7" /><Relationship Type="http://schemas.openxmlformats.org/officeDocument/2006/relationships/notesMaster" Target="/ppt/notesMasters/notesMaster1.xml" Id="R38a166e5e2114d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3288b86075464c" /><Relationship Type="http://schemas.openxmlformats.org/officeDocument/2006/relationships/notesMaster" Target="/ppt/notesMasters/notesMaster1.xml" Id="R9125269ebb4f48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Lectura del mapa: comenzar por la decepción sin corregirla; subrayar que Jesús se acerca y escucha; mostrar cómo la Palabra relee la cruz; detenerse en la hospitalidad y el pan partido; terminar con el regreso a la comunidad. Idea nuclear: el Resucitado transforma la historia caminándola con nosotros.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Leer los cuatro movimientos como una sola pedagogía de Jesús: acercarse, escuchar, releer, compartir y devolver a la comunidad. No usar las citas como respuestas rápidas al dolor; preguntar qué gesto de Jesús necesita hoy el grupo.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Clima: acogedor y sin prisas. El «nosotros esperábamos» se comparte en primera persona y sin consejos. Puede partirse un pan sencillo en el cierre, sin convertirlo en gesto litúrgico. El compromiso final debe ser pequeño, verificable y vinculado a una persona o comunidad concreta.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f53cf188394e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3df948ec0c42ec" /><Relationship Type="http://schemas.openxmlformats.org/officeDocument/2006/relationships/slideLayout" Target="/ppt/slideLayouts/slideLayout1.xml" Id="R3fe48f10ca254b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e48f10ca254b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27d7bde31245b0" /><Relationship Type="http://schemas.openxmlformats.org/officeDocument/2006/relationships/image" Target="/ppt/media/image.png" Id="R5befd41492744eee" /><Relationship Type="http://schemas.openxmlformats.org/officeDocument/2006/relationships/notesSlide" Target="/ppt/notesSlides/notesSlide1.xml" Id="R3bf403d2327f4d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46fcad653c4575" /><Relationship Type="http://schemas.openxmlformats.org/officeDocument/2006/relationships/notesSlide" Target="/ppt/notesSlides/notesSlide2.xml" Id="R2505a2c5879242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7e0c9bfdb74fb2" /><Relationship Type="http://schemas.openxmlformats.org/officeDocument/2006/relationships/notesSlide" Target="/ppt/notesSlides/notesSlide3.xml" Id="Rcffb9a68bb2949d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Imagen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efd41492744ee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B76F925A-853B-4B63-B630-E7E0361B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239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B1C263C-5E91-44EE-907E-89FD0281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57700"/>
            <a:ext cx="12192000" cy="24003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B76D6CD6-C65C-4094-B79C-E893F194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AL PARTIR EL PAN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5912B2F9-7ECB-4D03-9D83-96A67B67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F5E7C3"/>
                </a:solidFill>
              </a:defRPr>
            </a:pPr>
            <a:r>
              <a:rPr sz="1275">
                <a:solidFill>
                  <a:srgbClr val="F5E7C3"/>
                </a:solidFill>
              </a:rPr>
              <a:t>Un camino que transforma la decepción en encuentro</a:t>
            </a:r>
          </a:p>
        </p:txBody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6BA613D3-A121-4C21-8A6A-26CE265C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381125"/>
            <a:ext cx="4305300" cy="1581150"/>
          </a:xfrm>
          <a:prstGeom xmlns:a="http://schemas.openxmlformats.org/drawingml/2006/main" prst="roundRect">
            <a:avLst>
              <a:gd name="adj" fmla="val 7229"/>
            </a:avLst>
          </a:prstGeom>
          <a:ln xmlns:a="http://schemas.openxmlformats.org/drawingml/2006/main" w="9525">
            <a:solidFill>
              <a:srgbClr val="C7B379"/>
            </a:solidFill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D33900F7-2BFB-4C08-9991-E4DBC79C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52575"/>
            <a:ext cx="3162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>
                <a:ln w="0"/>
                <a:solidFill>
                  <a:schemeClr val="tx2">
                    <a:lumMod val="90000"/>
                    <a:lumOff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JESÚS SE HACE CAMINO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>
                <a:ln w="0"/>
                <a:solidFill>
                  <a:schemeClr val="tx2">
                    <a:lumMod val="90000"/>
                    <a:lumOff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JUNTO A SU TRISTEZA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F9A3AF1-988D-4987-A2AF-F5D5DBBF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00275"/>
            <a:ext cx="3848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FFFFF"/>
                </a:solidFill>
              </a:defRPr>
            </a:pPr>
            <a:r>
              <a:rPr sz="1200">
                <a:ln w="0"/>
                <a:solidFill>
                  <a:srgbClr val="52748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 Resucitado atraviesa la herida:</a:t>
            </a:r>
          </a:p>
          <a:p xmlns:a="http://schemas.openxmlformats.org/drawingml/2006/main">
            <a:pPr>
              <a:buNone/>
              <a:defRPr sz="1200" b="0">
                <a:solidFill>
                  <a:srgbClr val="FFFFFF"/>
                </a:solidFill>
              </a:defRPr>
            </a:pPr>
            <a:r>
              <a:rPr sz="1200">
                <a:ln w="0"/>
                <a:solidFill>
                  <a:srgbClr val="52748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 escucha, relee y devuelve a la comunidad.</a:t>
            </a:r>
          </a:p>
        </p:txBody>
      </p:sp>
      <p:sp>
        <p:nvSpPr>
          <p:cNvPr id="9" name="Conector recto 8">
            <a:extLst xmlns:a="http://schemas.openxmlformats.org/drawingml/2006/main">
              <a:ext uri="{FF2B5EF4-FFF2-40B4-BE49-F238E27FC236}">
                <a16:creationId xmlns:a16="http://schemas.microsoft.com/office/drawing/2014/main" id="{766AD396-925D-4C92-B794-935B24E5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6275" y="4600575"/>
            <a:ext cx="10753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A64F"/>
            </a:solidFill>
            <a:prstDash val="solid"/>
          </a:ln>
        </p:spPr>
      </p:sp>
      <p:sp>
        <p:nvSpPr>
          <p:cNvPr id="10" name="Elipse 9">
            <a:extLst xmlns:a="http://schemas.openxmlformats.org/drawingml/2006/main">
              <a:ext uri="{FF2B5EF4-FFF2-40B4-BE49-F238E27FC236}">
                <a16:creationId xmlns:a16="http://schemas.microsoft.com/office/drawing/2014/main" id="{125F3B06-0623-45FC-A98E-F08D0AB8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665761AE-B378-4760-9A4B-68132258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1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12613CD1-C39B-4AAF-BBCE-27BE8132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DECEPCIÓN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73132C27-ABFD-4365-B43B-986B5714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«Nosotros esperábamos…»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Se alejan de Jerusalén.</a:t>
            </a:r>
          </a:p>
        </p:txBody>
      </p:sp>
      <p:sp>
        <p:nvSpPr>
          <p:cNvPr id="14" name="Conector recto 13">
            <a:extLst xmlns:a="http://schemas.openxmlformats.org/drawingml/2006/main">
              <a:ext uri="{FF2B5EF4-FFF2-40B4-BE49-F238E27FC236}">
                <a16:creationId xmlns:a16="http://schemas.microsoft.com/office/drawing/2014/main" id="{743C9350-C4A1-4490-AD9D-DD5C3BAC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1D8BD664-2AAB-48D3-BBB2-62EFB4D7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El dolor encoge la mirada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y oculta la presencia.</a:t>
            </a:r>
          </a:p>
        </p:txBody>
      </p:sp>
      <p:sp>
        <p:nvSpPr>
          <p:cNvPr id="16" name="Elipse 15">
            <a:extLst xmlns:a="http://schemas.openxmlformats.org/drawingml/2006/main">
              <a:ext uri="{FF2B5EF4-FFF2-40B4-BE49-F238E27FC236}">
                <a16:creationId xmlns:a16="http://schemas.microsoft.com/office/drawing/2014/main" id="{B66FFF91-9CA2-4037-A956-A2DE54CB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3DE679FA-D2A8-430A-B3B4-C3932A72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2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C6E15EEF-3684-4338-8BA0-DF2F682E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PRESENCIA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C5A39A7D-9CD1-42F2-A7DB-5F0014AC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Jesús se acerca y camina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al paso de su tristeza.</a:t>
            </a:r>
          </a:p>
        </p:txBody>
      </p:sp>
      <p:sp>
        <p:nvSpPr>
          <p:cNvPr id="20" name="Conector recto 19">
            <a:extLst xmlns:a="http://schemas.openxmlformats.org/drawingml/2006/main">
              <a:ext uri="{FF2B5EF4-FFF2-40B4-BE49-F238E27FC236}">
                <a16:creationId xmlns:a16="http://schemas.microsoft.com/office/drawing/2014/main" id="{C915E308-4F55-4006-BE35-D83ACB19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CEE927DE-097C-47A0-8B22-8024ECD0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Antes de explicar, pregunta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y escucha lo que duele.</a:t>
            </a:r>
          </a:p>
        </p:txBody>
      </p:sp>
      <p:sp>
        <p:nvSpPr>
          <p:cNvPr id="22" name="Elipse 21">
            <a:extLst xmlns:a="http://schemas.openxmlformats.org/drawingml/2006/main">
              <a:ext uri="{FF2B5EF4-FFF2-40B4-BE49-F238E27FC236}">
                <a16:creationId xmlns:a16="http://schemas.microsoft.com/office/drawing/2014/main" id="{26BBFF55-7514-457A-AE5C-C740E04E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B5775468-8B8E-4ABF-B92E-67DADC5F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3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D935F955-A505-483F-A10A-C7C65AD1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PALABRA QUE ARDE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35129EB-3FA7-4669-BF9F-26DE8F4B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La Escritura relee la cruz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desde el amor de Dios.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7679B2FF-34E5-4D19-851E-EC869FF0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42D02D78-9FF2-44F5-B00A-5FE232E3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historia encuentra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un sentido nuevo.</a:t>
            </a:r>
          </a:p>
        </p:txBody>
      </p:sp>
      <p:sp>
        <p:nvSpPr>
          <p:cNvPr id="28" name="Elipse 27">
            <a:extLst xmlns:a="http://schemas.openxmlformats.org/drawingml/2006/main">
              <a:ext uri="{FF2B5EF4-FFF2-40B4-BE49-F238E27FC236}">
                <a16:creationId xmlns:a16="http://schemas.microsoft.com/office/drawing/2014/main" id="{BE26EAC8-47A2-4607-BEFE-2460A2FF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8B3C1128-2625-4751-800D-21D264F8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02290257-ADD7-4E95-946B-FC1D86FB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RECONOCIMIENTO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B00D536D-D621-4236-AF48-F610F2F9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«Quédate con nosotros».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El pan se parte.</a:t>
            </a:r>
          </a:p>
        </p:txBody>
      </p:sp>
      <p:sp>
        <p:nvSpPr>
          <p:cNvPr id="32" name="Conector recto 31">
            <a:extLst xmlns:a="http://schemas.openxmlformats.org/drawingml/2006/main">
              <a:ext uri="{FF2B5EF4-FFF2-40B4-BE49-F238E27FC236}">
                <a16:creationId xmlns:a16="http://schemas.microsoft.com/office/drawing/2014/main" id="{8C8B5876-7F3F-4B03-90C7-DD63DB08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F935BB92-EC79-495F-BBBD-30B0F3EA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Los ojos se abren en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mesa compartida.</a:t>
            </a:r>
          </a:p>
        </p:txBody>
      </p:sp>
      <p:sp>
        <p:nvSpPr>
          <p:cNvPr id="34" name="Elipse 33">
            <a:extLst xmlns:a="http://schemas.openxmlformats.org/drawingml/2006/main">
              <a:ext uri="{FF2B5EF4-FFF2-40B4-BE49-F238E27FC236}">
                <a16:creationId xmlns:a16="http://schemas.microsoft.com/office/drawing/2014/main" id="{2FF2A9B7-688D-4C1E-AE74-25F236D3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731CFFEA-8755-4D80-99D5-85B69C56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5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E4B35737-4FF5-4FFB-B35C-BF0791C4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REGRESO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D3C05DC6-EEF3-47D1-8D15-FD1B0863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Vuelven esa misma hora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 Jerusalén.</a:t>
            </a:r>
          </a:p>
        </p:txBody>
      </p:sp>
      <p:sp>
        <p:nvSpPr>
          <p:cNvPr id="38" name="Conector recto 37">
            <a:extLst xmlns:a="http://schemas.openxmlformats.org/drawingml/2006/main">
              <a:ext uri="{FF2B5EF4-FFF2-40B4-BE49-F238E27FC236}">
                <a16:creationId xmlns:a16="http://schemas.microsoft.com/office/drawing/2014/main" id="{3579FD05-578B-414A-A46E-83F30DAF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C276F3AF-1F6D-406C-A755-D267075D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El encuentro devuelve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comunidad y misión.</a:t>
            </a:r>
          </a:p>
        </p:txBody>
      </p:sp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BBFA0AF3-1233-4EED-9907-CF97B9DD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«¿No ardía nuestro corazón mientras nos hablaba por el camino?»</a:t>
            </a:r>
          </a:p>
        </p:txBody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F331B9A7-E894-478D-B98F-65FC4F15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150455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72F37E03-C2AE-4457-92CB-8FFA9A73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7151F"/>
                </a:solidFill>
              </a:defRPr>
            </a:pPr>
            <a:r>
              <a:rPr sz="2250" b="1">
                <a:solidFill>
                  <a:srgbClr val="07151F"/>
                </a:solidFill>
              </a:rPr>
              <a:t>CUATRO MOVIMIENTOS DE EMAÚS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A32D06E0-C229-427F-A845-5B0388C5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D646B"/>
                </a:solidFill>
              </a:defRPr>
            </a:pPr>
            <a:r>
              <a:rPr sz="1200" b="0">
                <a:solidFill>
                  <a:srgbClr val="4D646B"/>
                </a:solidFill>
              </a:rPr>
              <a:t>El relato muestra cómo Jesús acompaña y transforma una decepción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011AFFC2-C892-49BF-B5B8-38CA089B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Rectángulo: esquinas redondeadas 3">
            <a:extLst xmlns:a="http://schemas.openxmlformats.org/drawingml/2006/main">
              <a:ext uri="{FF2B5EF4-FFF2-40B4-BE49-F238E27FC236}">
                <a16:creationId xmlns:a16="http://schemas.microsoft.com/office/drawing/2014/main" id="{ED4C0F0B-03BD-4136-B8C9-08B2D21A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0D2A38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4E9E5A45-0DB9-40E5-9BE5-787146AD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01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E40C7DFE-33ED-454A-AB51-137E5FDD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Lc 24,15–17</a:t>
            </a:r>
          </a:p>
        </p:txBody>
      </p:sp>
      <p:sp>
        <p:nvSpPr>
          <p:cNvPr id="7" name="Conector recto 6">
            <a:extLst xmlns:a="http://schemas.openxmlformats.org/drawingml/2006/main">
              <a:ext uri="{FF2B5EF4-FFF2-40B4-BE49-F238E27FC236}">
                <a16:creationId xmlns:a16="http://schemas.microsoft.com/office/drawing/2014/main" id="{713B4E51-C338-4275-8ED9-A48BAEF7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0C421F1-9F2E-477F-BA2B-79164E95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PRESENCIA QUE ESCUCHA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1537AC9D-01DD-431D-A0B8-2736697D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«Jesús se acercó y caminó con ellos.»</a:t>
            </a:r>
          </a:p>
        </p:txBody>
      </p:sp>
      <p:sp>
        <p:nvSpPr>
          <p:cNvPr id="10" name="Conector recto 9">
            <a:extLst xmlns:a="http://schemas.openxmlformats.org/drawingml/2006/main">
              <a:ext uri="{FF2B5EF4-FFF2-40B4-BE49-F238E27FC236}">
                <a16:creationId xmlns:a16="http://schemas.microsoft.com/office/drawing/2014/main" id="{E31F0AC1-698A-4C06-85A6-017D1212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51FA8C67-5C0F-4F4B-BCAC-CA72A523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El Resucitado no irrumpe con respuestas. Se pone a su paso, pregunta y deja que nombren la herida.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B54CCF2A-F82C-4629-9AEC-6C0E8321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355A478B-DBB8-47C8-8164-6A9D50E1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71B0A35-DB7C-48DB-9465-948C04C0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Lc 24,25–27</a:t>
            </a:r>
          </a:p>
        </p:txBody>
      </p:sp>
      <p:sp>
        <p:nvSpPr>
          <p:cNvPr id="15" name="Conector recto 14">
            <a:extLst xmlns:a="http://schemas.openxmlformats.org/drawingml/2006/main">
              <a:ext uri="{FF2B5EF4-FFF2-40B4-BE49-F238E27FC236}">
                <a16:creationId xmlns:a16="http://schemas.microsoft.com/office/drawing/2014/main" id="{66CA8D28-498A-402B-98C3-16AAF530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500BD432-5A8A-4615-A99B-AF730BB2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PALABRA QUE RELEE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2A29B886-2F11-434C-AEB0-140D65C3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«Les explicó lo que se refería a él en las Escrituras.»</a:t>
            </a:r>
          </a:p>
        </p:txBody>
      </p:sp>
      <p:sp>
        <p:nvSpPr>
          <p:cNvPr id="18" name="Conector recto 17">
            <a:extLst xmlns:a="http://schemas.openxmlformats.org/drawingml/2006/main">
              <a:ext uri="{FF2B5EF4-FFF2-40B4-BE49-F238E27FC236}">
                <a16:creationId xmlns:a16="http://schemas.microsoft.com/office/drawing/2014/main" id="{58FF9ECC-73F3-426D-9AB0-734B1EDA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88D83548-307E-4D0D-A2BB-45A12131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La Escritura no borra la cruz: la relee desde el amor de Dios y hace arder de nuevo el corazón.</a:t>
            </a:r>
          </a:p>
        </p:txBody>
      </p:sp>
      <p:sp>
        <p:nvSpPr>
          <p:cNvPr id="20" name="Rectángulo: esquinas redondeadas 19">
            <a:extLst xmlns:a="http://schemas.openxmlformats.org/drawingml/2006/main">
              <a:ext uri="{FF2B5EF4-FFF2-40B4-BE49-F238E27FC236}">
                <a16:creationId xmlns:a16="http://schemas.microsoft.com/office/drawing/2014/main" id="{83F9E9AD-DC76-4724-B8B0-4CD903AF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865B4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D36563D4-1A9D-44B1-8E7D-442814D5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03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727E3E34-3C0F-4D35-A6B6-B7F48852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Lc 24,29–31</a:t>
            </a:r>
          </a:p>
        </p:txBody>
      </p:sp>
      <p:sp>
        <p:nvSpPr>
          <p:cNvPr id="23" name="Conector recto 22">
            <a:extLst xmlns:a="http://schemas.openxmlformats.org/drawingml/2006/main">
              <a:ext uri="{FF2B5EF4-FFF2-40B4-BE49-F238E27FC236}">
                <a16:creationId xmlns:a16="http://schemas.microsoft.com/office/drawing/2014/main" id="{721D9E58-FFC0-47B8-98D6-BC3CC419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300E4868-92F9-40B4-9D0E-435EAB60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MESA QUE ABRE LOS OJOS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C582428-796B-4095-98B6-3C2A6FDD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«Lo reconocieron al partir el pan.»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20EA01E7-7751-4CD8-9B07-E89134ED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77EED197-C142-4BC9-AC15-FD8B4BE9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La hospitalidad prepara el reconocimiento. En el pan bendecido y compartido descubren quién caminaba con ellos.</a:t>
            </a:r>
          </a:p>
        </p:txBody>
      </p:sp>
      <p:sp>
        <p:nvSpPr>
          <p:cNvPr id="28" name="Rectángulo: esquinas redondeadas 27">
            <a:extLst xmlns:a="http://schemas.openxmlformats.org/drawingml/2006/main">
              <a:ext uri="{FF2B5EF4-FFF2-40B4-BE49-F238E27FC236}">
                <a16:creationId xmlns:a16="http://schemas.microsoft.com/office/drawing/2014/main" id="{77FC9282-B573-472C-9171-60922622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5A513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2AC27A7E-3684-497B-92CE-AF102E6E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541B0600-63A3-4D50-8DCD-C2A91BC9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Lc 24,33–35</a:t>
            </a:r>
          </a:p>
        </p:txBody>
      </p:sp>
      <p:sp>
        <p:nvSpPr>
          <p:cNvPr id="31" name="Conector recto 30">
            <a:extLst xmlns:a="http://schemas.openxmlformats.org/drawingml/2006/main">
              <a:ext uri="{FF2B5EF4-FFF2-40B4-BE49-F238E27FC236}">
                <a16:creationId xmlns:a16="http://schemas.microsoft.com/office/drawing/2014/main" id="{CD0F8830-070D-4550-BAC0-0FCBBE3D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2F68BC15-077A-4086-B47D-446BC43F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COMUNIDAD QUE ENVÍA</a:t>
            </a:r>
          </a:p>
        </p:txBody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9B1D6005-D34A-4E37-9CFF-143BEC9B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«Levantándose al momento, volvieron a Jerusalén.»</a:t>
            </a:r>
          </a:p>
        </p:txBody>
      </p:sp>
      <p:sp>
        <p:nvSpPr>
          <p:cNvPr id="34" name="Conector recto 33">
            <a:extLst xmlns:a="http://schemas.openxmlformats.org/drawingml/2006/main">
              <a:ext uri="{FF2B5EF4-FFF2-40B4-BE49-F238E27FC236}">
                <a16:creationId xmlns:a16="http://schemas.microsoft.com/office/drawing/2014/main" id="{097B30E3-4B9F-42F8-A9F7-556491E3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695C0E6E-C3AE-4CF8-8FEA-6B5576C7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El encuentro no los encierra en una emoción. Los devuelve a la comunidad para compartir la noticia y recomenzar.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B381F95A-49F1-4757-9BCD-58948874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D9A441"/>
                </a:solidFill>
              </a:defRPr>
            </a:pPr>
            <a:r>
              <a:rPr sz="1050" b="1">
                <a:solidFill>
                  <a:srgbClr val="D9A441"/>
                </a:solidFill>
              </a:rPr>
              <a:t>SÍNTESIS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1C5AD733-368F-4750-80C9-D90C0662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95925"/>
            <a:ext cx="998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51F"/>
                </a:solidFill>
              </a:defRPr>
            </a:pPr>
            <a:r>
              <a:rPr sz="1425" b="1">
                <a:solidFill>
                  <a:srgbClr val="07151F"/>
                </a:solidFill>
              </a:rPr>
              <a:t>Acompañar  ·  escuchar  ·  releer  ·  hospedar  ·  compartir  ·  volver</a:t>
            </a:r>
          </a:p>
        </p:txBody>
      </p:sp>
      <p:sp>
        <p:nvSpPr>
          <p:cNvPr id="38" name="Rectángulo 37">
            <a:extLst xmlns:a="http://schemas.openxmlformats.org/drawingml/2006/main">
              <a:ext uri="{FF2B5EF4-FFF2-40B4-BE49-F238E27FC236}">
                <a16:creationId xmlns:a16="http://schemas.microsoft.com/office/drawing/2014/main" id="{10B79631-8116-4707-9F97-E11C327D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0565E"/>
                </a:solidFill>
              </a:defRPr>
            </a:pPr>
            <a:r>
              <a:rPr sz="1350" b="0">
                <a:solidFill>
                  <a:srgbClr val="40565E"/>
                </a:solidFill>
              </a:rPr>
              <a:t>Pregunta de fondo: ¿qué necesitamos dejar que Jesús relea para recuperar el camino?</a:t>
            </a:r>
          </a:p>
        </p:txBody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4360E03B-D8D8-40B4-A0BC-61403AB2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63775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Rectángulo 42">
            <a:extLst xmlns:a="http://schemas.openxmlformats.org/drawingml/2006/main">
              <a:ext uri="{FF2B5EF4-FFF2-40B4-BE49-F238E27FC236}">
                <a16:creationId xmlns:a16="http://schemas.microsoft.com/office/drawing/2014/main" id="{53C88EF1-7990-4A69-ABBC-6CF451A0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PROPUESTA DE REUNIÓN · 70 MINUTOS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92328298-5735-44A1-9D3B-60B29C4F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E7C3"/>
                </a:solidFill>
              </a:defRPr>
            </a:pPr>
            <a:r>
              <a:rPr sz="1200" b="0">
                <a:solidFill>
                  <a:srgbClr val="F5E7C3"/>
                </a:solidFill>
              </a:rPr>
              <a:t>De la decepción compartida a un regreso con esperanza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10BC4743-C41F-4DB3-AE82-190DDB79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Conector recto 3">
            <a:extLst xmlns:a="http://schemas.openxmlformats.org/drawingml/2006/main">
              <a:ext uri="{FF2B5EF4-FFF2-40B4-BE49-F238E27FC236}">
                <a16:creationId xmlns:a16="http://schemas.microsoft.com/office/drawing/2014/main" id="{6375B53B-3AA1-4460-8323-A486114C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19250"/>
            <a:ext cx="9525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7984"/>
            </a:solidFill>
            <a:prstDash val="solid"/>
          </a:ln>
        </p:spPr>
      </p:sp>
      <p:sp>
        <p:nvSpPr>
          <p:cNvPr id="5" name="Elipse 4">
            <a:extLst xmlns:a="http://schemas.openxmlformats.org/drawingml/2006/main">
              <a:ext uri="{FF2B5EF4-FFF2-40B4-BE49-F238E27FC236}">
                <a16:creationId xmlns:a16="http://schemas.microsoft.com/office/drawing/2014/main" id="{E8FF985D-7012-4049-8855-F4E7978E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47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CCD8C92-E8A4-4942-8D70-4FEB7321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668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7D28D4B5-83E9-4A6C-BA6E-7AF1E133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00–08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B2EA4705-1FF4-4311-96DC-0AAD55DB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352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ESCUCHAR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477E6774-15D6-4800-8AA4-01B6AE42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478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Oír «Al partir el pan» completa, sin entregar todavía explicaciones.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2093CDD0-60C3-4498-B8E9-DFB2374B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3525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3A81FBB7-1C20-4A8B-B498-33B54ED2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4478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frase describe mejor cómo llego hoy?</a:t>
            </a:r>
          </a:p>
        </p:txBody>
      </p:sp>
      <p:sp>
        <p:nvSpPr>
          <p:cNvPr id="12" name="Elipse 11">
            <a:extLst xmlns:a="http://schemas.openxmlformats.org/drawingml/2006/main">
              <a:ext uri="{FF2B5EF4-FFF2-40B4-BE49-F238E27FC236}">
                <a16:creationId xmlns:a16="http://schemas.microsoft.com/office/drawing/2014/main" id="{82CE6E74-11DE-4371-9707-7D819C30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6E14E9C9-CBA7-46E4-9814-7F335CF5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292DDD7-9BF5-4785-AA91-207E5346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08–20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A514BB4A-2401-4F6B-BDB3-187145CB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66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CAMINAR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98ED842D-F6DE-40B3-A888-6D81AA91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622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En parejas, contar brevemente un «nosotros esperábamos…».</a:t>
            </a:r>
          </a:p>
        </p:txBody>
      </p:sp>
      <p:sp>
        <p:nvSpPr>
          <p:cNvPr id="17" name="Rectángulo: esquinas redondeadas 16">
            <a:extLst xmlns:a="http://schemas.openxmlformats.org/drawingml/2006/main">
              <a:ext uri="{FF2B5EF4-FFF2-40B4-BE49-F238E27FC236}">
                <a16:creationId xmlns:a16="http://schemas.microsoft.com/office/drawing/2014/main" id="{844D3CC3-83C2-4555-AA49-17F6F035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669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70419300-4ED5-4180-85A1-517F52DF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622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esperanza rota o cansancio estoy llevando?</a:t>
            </a:r>
          </a:p>
        </p:txBody>
      </p:sp>
      <p:sp>
        <p:nvSpPr>
          <p:cNvPr id="19" name="Elipse 18">
            <a:extLst xmlns:a="http://schemas.openxmlformats.org/drawingml/2006/main">
              <a:ext uri="{FF2B5EF4-FFF2-40B4-BE49-F238E27FC236}">
                <a16:creationId xmlns:a16="http://schemas.microsoft.com/office/drawing/2014/main" id="{21440157-A5B3-4220-B61D-9DB2AB3D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98DCD944-D80F-4335-93F8-2FBC2D62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956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3195E1D4-5B20-49BE-92FF-51BA140D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20–38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15AF171C-7201-47F1-AED5-9E8D2810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81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ILUMINAR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5685EC69-1FED-4758-B7B9-83DB3A0B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766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Leer Lc 24,13–35 en tres voces y subrayar los giros del relato.</a:t>
            </a:r>
          </a:p>
        </p:txBody>
      </p:sp>
      <p:sp>
        <p:nvSpPr>
          <p:cNvPr id="24" name="Rectángulo: esquinas redondeadas 23">
            <a:extLst xmlns:a="http://schemas.openxmlformats.org/drawingml/2006/main">
              <a:ext uri="{FF2B5EF4-FFF2-40B4-BE49-F238E27FC236}">
                <a16:creationId xmlns:a16="http://schemas.microsoft.com/office/drawing/2014/main" id="{906FFFBE-D862-49A8-9A23-FFDE300E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813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7CFFC0D1-2720-4CFD-8F95-8EB2A021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766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hace Jesús para transformar la mirada?</a:t>
            </a:r>
          </a:p>
        </p:txBody>
      </p:sp>
      <p:sp>
        <p:nvSpPr>
          <p:cNvPr id="26" name="Elipse 25">
            <a:extLst xmlns:a="http://schemas.openxmlformats.org/drawingml/2006/main">
              <a:ext uri="{FF2B5EF4-FFF2-40B4-BE49-F238E27FC236}">
                <a16:creationId xmlns:a16="http://schemas.microsoft.com/office/drawing/2014/main" id="{6E6643F4-6238-46E9-8AB2-F53E1FDC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91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87CC754A-24A1-4F48-96FC-75E0CBD3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F2300832-27E6-4A62-B815-CC398E77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38–58</a:t>
            </a:r>
          </a:p>
        </p:txBody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7834DC01-F13F-45A7-B827-2EFCF258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95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RECONOCER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E215B0C6-630D-414B-854B-6049BC88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910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Compartir dónde se hace presente: escucha, Palabra, mesa o comunidad.</a:t>
            </a:r>
          </a:p>
        </p:txBody>
      </p:sp>
      <p:sp>
        <p:nvSpPr>
          <p:cNvPr id="31" name="Rectángulo: esquinas redondeadas 30">
            <a:extLst xmlns:a="http://schemas.openxmlformats.org/drawingml/2006/main">
              <a:ext uri="{FF2B5EF4-FFF2-40B4-BE49-F238E27FC236}">
                <a16:creationId xmlns:a16="http://schemas.microsoft.com/office/drawing/2014/main" id="{4DE7B454-0DF5-46AF-8F41-F50C7147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957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3F3B248E-9AFD-4821-9A04-E4B2993B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910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¿Dónde camina Jesús y aún no lo reconozco?</a:t>
            </a:r>
          </a:p>
        </p:txBody>
      </p:sp>
      <p:sp>
        <p:nvSpPr>
          <p:cNvPr id="33" name="Elipse 32">
            <a:extLst xmlns:a="http://schemas.openxmlformats.org/drawingml/2006/main">
              <a:ext uri="{FF2B5EF4-FFF2-40B4-BE49-F238E27FC236}">
                <a16:creationId xmlns:a16="http://schemas.microsoft.com/office/drawing/2014/main" id="{E1ED5C02-4073-4A3B-AF10-4A0648C3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F49ADBB0-2D51-41F5-9F5F-40B5F266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244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336EC6DF-7239-4253-9ACE-80243B29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58–70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89AB0ED0-9F6F-4E16-8BD6-1E0D0433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10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VOLVER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CEED62F7-9C9A-4EFF-AE0F-74788206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054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Elegir un gesto de acompañamiento. Terminar con pan compartido y oración.</a:t>
            </a:r>
          </a:p>
        </p:txBody>
      </p:sp>
      <p:sp>
        <p:nvSpPr>
          <p:cNvPr id="38" name="Rectángulo: esquinas redondeadas 37">
            <a:extLst xmlns:a="http://schemas.openxmlformats.org/drawingml/2006/main">
              <a:ext uri="{FF2B5EF4-FFF2-40B4-BE49-F238E27FC236}">
                <a16:creationId xmlns:a16="http://schemas.microsoft.com/office/drawing/2014/main" id="{192F604F-0693-4338-B4C8-60A0986B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101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E1A9E620-0DA6-4D84-A6FA-A22825ED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054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¿A quién o a qué comunidad necesito volver esta semana?</a:t>
            </a:r>
          </a:p>
        </p:txBody>
      </p:sp>
      <p:sp>
        <p:nvSpPr>
          <p:cNvPr id="40" name="Rectángulo: esquinas redondeadas 39">
            <a:extLst xmlns:a="http://schemas.openxmlformats.org/drawingml/2006/main">
              <a:ext uri="{FF2B5EF4-FFF2-40B4-BE49-F238E27FC236}">
                <a16:creationId xmlns:a16="http://schemas.microsoft.com/office/drawing/2014/main" id="{4ED58C9D-8432-446A-B976-960336A9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048375"/>
            <a:ext cx="9725025" cy="447675"/>
          </a:xfrm>
          <a:prstGeom xmlns:a="http://schemas.openxmlformats.org/drawingml/2006/main" prst="roundRect">
            <a:avLst>
              <a:gd name="adj" fmla="val 25532"/>
            </a:avLst>
          </a:prstGeom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1E9C6448-F067-47A4-9BF5-FD916857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24575"/>
            <a:ext cx="9344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CRITERIO: no forzar respuestas felices; acoger la decepción y descubrir el paso concreto que devuelve al camino.</a:t>
            </a:r>
          </a:p>
        </p:txBody>
      </p:sp>
      <p:sp>
        <p:nvSpPr>
          <p:cNvPr id="42" name="Rectángulo 41">
            <a:extLst xmlns:a="http://schemas.openxmlformats.org/drawingml/2006/main">
              <a:ext uri="{FF2B5EF4-FFF2-40B4-BE49-F238E27FC236}">
                <a16:creationId xmlns:a16="http://schemas.microsoft.com/office/drawing/2014/main" id="{B8673AC7-8C86-4415-B176-1DC3C973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8496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2026-07-12T05:37:42.8540000Z</dcterms:created>
  <dcterms:modified xsi:type="dcterms:W3CDTF">2026-07-12T05:37:42.8540000Z</dcterms:modified>
</coreProperties>
</file>